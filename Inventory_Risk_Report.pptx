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7" r:id="rId8"/>
    <p:sldId id="268" r:id="rId9"/>
    <p:sldId id="262" r:id="rId10"/>
    <p:sldId id="265" r:id="rId11"/>
    <p:sldId id="263" r:id="rId12"/>
    <p:sldId id="266" r:id="rId13"/>
    <p:sldId id="264"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4" d="100"/>
          <a:sy n="94" d="100"/>
        </p:scale>
        <p:origin x="69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76101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0962013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4645339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6555596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7732266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5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E4A9E"/>
          </a:solidFill>
          <a:ln/>
        </p:spPr>
      </p:sp>
      <p:sp>
        <p:nvSpPr>
          <p:cNvPr id="3" name="Text 1"/>
          <p:cNvSpPr/>
          <p:nvPr/>
        </p:nvSpPr>
        <p:spPr>
          <a:xfrm>
            <a:off x="457200" y="914400"/>
            <a:ext cx="5486400" cy="1005840"/>
          </a:xfrm>
          <a:prstGeom prst="rect">
            <a:avLst/>
          </a:prstGeom>
          <a:noFill/>
          <a:ln/>
        </p:spPr>
        <p:txBody>
          <a:bodyPr wrap="square" lIns="0" tIns="0" rIns="0" bIns="0" rtlCol="0" anchor="ctr"/>
          <a:lstStyle/>
          <a:p>
            <a:pPr marL="0" indent="0">
              <a:buNone/>
            </a:pPr>
            <a:r>
              <a:rPr lang="en-US" sz="5200" b="1" kern="0" spc="300" dirty="0">
                <a:solidFill>
                  <a:srgbClr val="FFFFFF"/>
                </a:solidFill>
                <a:latin typeface="Calibri" pitchFamily="34" charset="0"/>
                <a:ea typeface="Calibri" pitchFamily="34" charset="-122"/>
                <a:cs typeface="Calibri" pitchFamily="34" charset="-120"/>
              </a:rPr>
              <a:t>INVENTORY RISK</a:t>
            </a:r>
            <a:endParaRPr lang="en-US" sz="5200" dirty="0"/>
          </a:p>
        </p:txBody>
      </p:sp>
      <p:sp>
        <p:nvSpPr>
          <p:cNvPr id="4" name="Text 2"/>
          <p:cNvSpPr/>
          <p:nvPr/>
        </p:nvSpPr>
        <p:spPr>
          <a:xfrm>
            <a:off x="457200" y="1828800"/>
            <a:ext cx="6400800" cy="1005840"/>
          </a:xfrm>
          <a:prstGeom prst="rect">
            <a:avLst/>
          </a:prstGeom>
          <a:noFill/>
          <a:ln/>
        </p:spPr>
        <p:txBody>
          <a:bodyPr wrap="square" lIns="0" tIns="0" rIns="0" bIns="0" rtlCol="0" anchor="ctr"/>
          <a:lstStyle/>
          <a:p>
            <a:pPr marL="0" indent="0">
              <a:buNone/>
            </a:pPr>
            <a:r>
              <a:rPr lang="en-US" sz="5200" b="1" kern="0" spc="300" dirty="0">
                <a:solidFill>
                  <a:srgbClr val="C8D9FF"/>
                </a:solidFill>
                <a:latin typeface="Calibri" pitchFamily="34" charset="0"/>
                <a:ea typeface="Calibri" pitchFamily="34" charset="-122"/>
                <a:cs typeface="Calibri" pitchFamily="34" charset="-120"/>
              </a:rPr>
              <a:t>ANALYSIS REPORT</a:t>
            </a:r>
            <a:endParaRPr lang="en-US" sz="5200" dirty="0"/>
          </a:p>
        </p:txBody>
      </p:sp>
      <p:sp>
        <p:nvSpPr>
          <p:cNvPr id="5" name="Shape 3"/>
          <p:cNvSpPr/>
          <p:nvPr/>
        </p:nvSpPr>
        <p:spPr>
          <a:xfrm>
            <a:off x="457200" y="2880360"/>
            <a:ext cx="5029200" cy="36576"/>
          </a:xfrm>
          <a:prstGeom prst="rect">
            <a:avLst/>
          </a:prstGeom>
          <a:solidFill>
            <a:srgbClr val="2E4A9E"/>
          </a:solidFill>
          <a:ln/>
        </p:spPr>
      </p:sp>
      <p:sp>
        <p:nvSpPr>
          <p:cNvPr id="6" name="Text 4"/>
          <p:cNvSpPr/>
          <p:nvPr/>
        </p:nvSpPr>
        <p:spPr>
          <a:xfrm>
            <a:off x="457200" y="3017520"/>
            <a:ext cx="6400800" cy="320040"/>
          </a:xfrm>
          <a:prstGeom prst="rect">
            <a:avLst/>
          </a:prstGeom>
          <a:noFill/>
          <a:ln/>
        </p:spPr>
        <p:txBody>
          <a:bodyPr wrap="square" lIns="0" tIns="0" rIns="0" bIns="0" rtlCol="0" anchor="ctr"/>
          <a:lstStyle/>
          <a:p>
            <a:pPr marL="0" indent="0">
              <a:buNone/>
            </a:pPr>
            <a:r>
              <a:rPr lang="en-US" sz="1300" i="1" dirty="0">
                <a:solidFill>
                  <a:srgbClr val="C8D9FF"/>
                </a:solidFill>
                <a:latin typeface="Calibri" pitchFamily="34" charset="0"/>
                <a:ea typeface="Calibri" pitchFamily="34" charset="-122"/>
                <a:cs typeface="Calibri" pitchFamily="34" charset="-120"/>
              </a:rPr>
              <a:t>Distribution Company  |  3,000 SKUs </a:t>
            </a:r>
            <a:endParaRPr lang="en-US" sz="1300" dirty="0"/>
          </a:p>
        </p:txBody>
      </p:sp>
      <p:sp>
        <p:nvSpPr>
          <p:cNvPr id="7" name="Text 5"/>
          <p:cNvSpPr/>
          <p:nvPr/>
        </p:nvSpPr>
        <p:spPr>
          <a:xfrm>
            <a:off x="457200" y="3474720"/>
            <a:ext cx="457200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Prepared by: Salau Bukola</a:t>
            </a:r>
            <a:endParaRPr lang="en-US" sz="1200" dirty="0"/>
          </a:p>
        </p:txBody>
      </p:sp>
      <p:sp>
        <p:nvSpPr>
          <p:cNvPr id="8" name="Text 6"/>
          <p:cNvSpPr/>
          <p:nvPr/>
        </p:nvSpPr>
        <p:spPr>
          <a:xfrm>
            <a:off x="457200" y="3749040"/>
            <a:ext cx="5486400" cy="256032"/>
          </a:xfrm>
          <a:prstGeom prst="rect">
            <a:avLst/>
          </a:prstGeom>
          <a:noFill/>
          <a:ln/>
        </p:spPr>
        <p:txBody>
          <a:bodyPr wrap="square" lIns="0" tIns="0" rIns="0" bIns="0" rtlCol="0" anchor="ctr"/>
          <a:lstStyle/>
          <a:p>
            <a:pPr marL="0" indent="0">
              <a:buNone/>
            </a:pPr>
            <a:r>
              <a:rPr lang="en-US" sz="1100" dirty="0">
                <a:solidFill>
                  <a:srgbClr val="C8D9FF"/>
                </a:solidFill>
                <a:latin typeface="Calibri" pitchFamily="34" charset="0"/>
                <a:ea typeface="Calibri" pitchFamily="34" charset="-122"/>
                <a:cs typeface="Calibri" pitchFamily="34" charset="-120"/>
              </a:rPr>
              <a:t>Easy Tech Talent Challenge</a:t>
            </a:r>
            <a:endParaRPr lang="en-US" sz="1100" dirty="0"/>
          </a:p>
        </p:txBody>
      </p:sp>
      <p:sp>
        <p:nvSpPr>
          <p:cNvPr id="10" name="Shape 8"/>
          <p:cNvSpPr/>
          <p:nvPr/>
        </p:nvSpPr>
        <p:spPr>
          <a:xfrm>
            <a:off x="6583680" y="1097280"/>
            <a:ext cx="2011680" cy="2560320"/>
          </a:xfrm>
          <a:prstGeom prst="rect">
            <a:avLst/>
          </a:prstGeom>
          <a:solidFill>
            <a:srgbClr val="2E4A9E">
              <a:alpha val="40000"/>
            </a:srgbClr>
          </a:solidFill>
          <a:ln/>
          <a:effectLst>
            <a:outerShdw blurRad="101600" dist="38100" dir="8100000" algn="bl" rotWithShape="0">
              <a:srgbClr val="000000">
                <a:alpha val="12000"/>
              </a:srgbClr>
            </a:outerShdw>
          </a:effectLst>
        </p:spPr>
      </p:sp>
      <p:sp>
        <p:nvSpPr>
          <p:cNvPr id="11" name="Shape 9"/>
          <p:cNvSpPr/>
          <p:nvPr/>
        </p:nvSpPr>
        <p:spPr>
          <a:xfrm>
            <a:off x="6949440" y="1463040"/>
            <a:ext cx="2011680" cy="2560320"/>
          </a:xfrm>
          <a:prstGeom prst="rect">
            <a:avLst/>
          </a:prstGeom>
          <a:solidFill>
            <a:srgbClr val="1A3070">
              <a:alpha val="60000"/>
            </a:srgbClr>
          </a:solidFill>
          <a:ln/>
          <a:effectLst>
            <a:outerShdw blurRad="101600" dist="38100" dir="8100000" algn="bl" rotWithShape="0">
              <a:srgbClr val="000000">
                <a:alpha val="12000"/>
              </a:srgbClr>
            </a:outerShdw>
          </a:effectLst>
        </p:spPr>
      </p:sp>
      <p:pic>
        <p:nvPicPr>
          <p:cNvPr id="12" name="Image 0" descr="preencoded.png"/>
          <p:cNvPicPr>
            <a:picLocks noChangeAspect="1"/>
          </p:cNvPicPr>
          <p:nvPr/>
        </p:nvPicPr>
        <p:blipFill>
          <a:blip r:embed="rId3"/>
          <a:stretch>
            <a:fillRect/>
          </a:stretch>
        </p:blipFill>
        <p:spPr>
          <a:xfrm>
            <a:off x="7315200" y="2011680"/>
            <a:ext cx="1097280" cy="10972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2A5E"/>
          </a:solidFill>
          <a:ln/>
        </p:spPr>
      </p:sp>
      <p:sp>
        <p:nvSpPr>
          <p:cNvPr id="3" name="Text 1"/>
          <p:cNvSpPr/>
          <p:nvPr/>
        </p:nvSpPr>
        <p:spPr>
          <a:xfrm>
            <a:off x="365760" y="0"/>
            <a:ext cx="73152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TABLE OF CONTENTS</a:t>
            </a:r>
            <a:endParaRPr lang="en-US" sz="2200" dirty="0"/>
          </a:p>
        </p:txBody>
      </p:sp>
      <p:sp>
        <p:nvSpPr>
          <p:cNvPr id="4" name="Shape 2"/>
          <p:cNvSpPr/>
          <p:nvPr/>
        </p:nvSpPr>
        <p:spPr>
          <a:xfrm>
            <a:off x="0" y="4892040"/>
            <a:ext cx="9144000" cy="251460"/>
          </a:xfrm>
          <a:prstGeom prst="rect">
            <a:avLst/>
          </a:prstGeom>
          <a:solidFill>
            <a:srgbClr val="1A3070"/>
          </a:solidFill>
          <a:ln/>
        </p:spPr>
      </p:sp>
      <p:sp>
        <p:nvSpPr>
          <p:cNvPr id="5" name="Text 3"/>
          <p:cNvSpPr/>
          <p:nvPr/>
        </p:nvSpPr>
        <p:spPr>
          <a:xfrm>
            <a:off x="274320" y="4892040"/>
            <a:ext cx="8595360" cy="251460"/>
          </a:xfrm>
          <a:prstGeom prst="rect">
            <a:avLst/>
          </a:prstGeom>
          <a:noFill/>
          <a:ln/>
        </p:spPr>
        <p:txBody>
          <a:bodyPr wrap="square" lIns="0" tIns="0" rIns="0" bIns="0" rtlCol="0" anchor="ctr"/>
          <a:lstStyle/>
          <a:p>
            <a:pPr marL="0" indent="0" algn="ctr">
              <a:buNone/>
            </a:pPr>
            <a:r>
              <a:rPr lang="en-US" sz="800" dirty="0">
                <a:solidFill>
                  <a:srgbClr val="C8D9FF"/>
                </a:solidFill>
                <a:latin typeface="Calibri" pitchFamily="34" charset="0"/>
                <a:ea typeface="Calibri" pitchFamily="34" charset="-122"/>
                <a:cs typeface="Calibri" pitchFamily="34" charset="-120"/>
              </a:rPr>
              <a:t>Easy Technologies Academy  |  #EasyTechTalent  |  Inventory Risk Analysis </a:t>
            </a:r>
            <a:endParaRPr lang="en-US" sz="800" dirty="0"/>
          </a:p>
        </p:txBody>
      </p:sp>
      <p:sp>
        <p:nvSpPr>
          <p:cNvPr id="6" name="Shape 4"/>
          <p:cNvSpPr/>
          <p:nvPr/>
        </p:nvSpPr>
        <p:spPr>
          <a:xfrm>
            <a:off x="365760" y="868680"/>
            <a:ext cx="475488" cy="402336"/>
          </a:xfrm>
          <a:prstGeom prst="rect">
            <a:avLst/>
          </a:prstGeom>
          <a:solidFill>
            <a:srgbClr val="2E4A9E"/>
          </a:solidFill>
          <a:ln/>
          <a:effectLst>
            <a:outerShdw blurRad="101600" dist="38100" dir="8100000" algn="bl" rotWithShape="0">
              <a:srgbClr val="000000">
                <a:alpha val="12000"/>
              </a:srgbClr>
            </a:outerShdw>
          </a:effectLst>
        </p:spPr>
      </p:sp>
      <p:sp>
        <p:nvSpPr>
          <p:cNvPr id="7" name="Text 5"/>
          <p:cNvSpPr/>
          <p:nvPr/>
        </p:nvSpPr>
        <p:spPr>
          <a:xfrm>
            <a:off x="365760" y="868680"/>
            <a:ext cx="475488"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8" name="Text 6"/>
          <p:cNvSpPr/>
          <p:nvPr/>
        </p:nvSpPr>
        <p:spPr>
          <a:xfrm>
            <a:off x="987552" y="868680"/>
            <a:ext cx="4114800" cy="219456"/>
          </a:xfrm>
          <a:prstGeom prst="rect">
            <a:avLst/>
          </a:prstGeom>
          <a:noFill/>
          <a:ln/>
        </p:spPr>
        <p:txBody>
          <a:bodyPr wrap="square" lIns="0" tIns="0" rIns="0" bIns="0" rtlCol="0" anchor="ctr"/>
          <a:lstStyle/>
          <a:p>
            <a:pPr marL="0" indent="0">
              <a:buNone/>
            </a:pPr>
            <a:r>
              <a:rPr lang="en-US" sz="1300" b="1" dirty="0">
                <a:solidFill>
                  <a:srgbClr val="1B2A5E"/>
                </a:solidFill>
                <a:latin typeface="Calibri" pitchFamily="34" charset="0"/>
                <a:ea typeface="Calibri" pitchFamily="34" charset="-122"/>
                <a:cs typeface="Calibri" pitchFamily="34" charset="-120"/>
              </a:rPr>
              <a:t>Introduction</a:t>
            </a:r>
            <a:endParaRPr lang="en-US" sz="1300" dirty="0"/>
          </a:p>
        </p:txBody>
      </p:sp>
      <p:sp>
        <p:nvSpPr>
          <p:cNvPr id="9" name="Text 7"/>
          <p:cNvSpPr/>
          <p:nvPr/>
        </p:nvSpPr>
        <p:spPr>
          <a:xfrm>
            <a:off x="987552" y="1069848"/>
            <a:ext cx="7772400" cy="182880"/>
          </a:xfrm>
          <a:prstGeom prst="rect">
            <a:avLst/>
          </a:prstGeom>
          <a:noFill/>
          <a:ln/>
        </p:spPr>
        <p:txBody>
          <a:bodyPr wrap="square" lIns="0" tIns="0" rIns="0" bIns="0" rtlCol="0" anchor="ctr"/>
          <a:lstStyle/>
          <a:p>
            <a:pPr marL="0" indent="0">
              <a:buNone/>
            </a:pPr>
            <a:r>
              <a:rPr lang="en-US" sz="1000" i="1" dirty="0">
                <a:solidFill>
                  <a:srgbClr val="4A5568"/>
                </a:solidFill>
                <a:latin typeface="Calibri" pitchFamily="34" charset="0"/>
                <a:ea typeface="Calibri" pitchFamily="34" charset="-122"/>
                <a:cs typeface="Calibri" pitchFamily="34" charset="-120"/>
              </a:rPr>
              <a:t>Company background and analysis scope</a:t>
            </a:r>
            <a:endParaRPr lang="en-US" sz="1000" dirty="0"/>
          </a:p>
        </p:txBody>
      </p:sp>
      <p:sp>
        <p:nvSpPr>
          <p:cNvPr id="10" name="Shape 8"/>
          <p:cNvSpPr/>
          <p:nvPr/>
        </p:nvSpPr>
        <p:spPr>
          <a:xfrm>
            <a:off x="365760" y="1444752"/>
            <a:ext cx="475488" cy="402336"/>
          </a:xfrm>
          <a:prstGeom prst="rect">
            <a:avLst/>
          </a:prstGeom>
          <a:solidFill>
            <a:srgbClr val="1E8449"/>
          </a:solidFill>
          <a:ln/>
          <a:effectLst>
            <a:outerShdw blurRad="101600" dist="38100" dir="8100000" algn="bl" rotWithShape="0">
              <a:srgbClr val="000000">
                <a:alpha val="12000"/>
              </a:srgbClr>
            </a:outerShdw>
          </a:effectLst>
        </p:spPr>
      </p:sp>
      <p:sp>
        <p:nvSpPr>
          <p:cNvPr id="11" name="Text 9"/>
          <p:cNvSpPr/>
          <p:nvPr/>
        </p:nvSpPr>
        <p:spPr>
          <a:xfrm>
            <a:off x="365760" y="1444752"/>
            <a:ext cx="475488"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2" name="Text 10"/>
          <p:cNvSpPr/>
          <p:nvPr/>
        </p:nvSpPr>
        <p:spPr>
          <a:xfrm>
            <a:off x="987552" y="1444752"/>
            <a:ext cx="4114800" cy="219456"/>
          </a:xfrm>
          <a:prstGeom prst="rect">
            <a:avLst/>
          </a:prstGeom>
          <a:noFill/>
          <a:ln/>
        </p:spPr>
        <p:txBody>
          <a:bodyPr wrap="square" lIns="0" tIns="0" rIns="0" bIns="0" rtlCol="0" anchor="ctr"/>
          <a:lstStyle/>
          <a:p>
            <a:pPr marL="0" indent="0">
              <a:buNone/>
            </a:pPr>
            <a:r>
              <a:rPr lang="en-US" sz="1300" b="1" dirty="0">
                <a:solidFill>
                  <a:srgbClr val="1B2A5E"/>
                </a:solidFill>
                <a:latin typeface="Calibri" pitchFamily="34" charset="0"/>
                <a:ea typeface="Calibri" pitchFamily="34" charset="-122"/>
                <a:cs typeface="Calibri" pitchFamily="34" charset="-120"/>
              </a:rPr>
              <a:t>Objectives</a:t>
            </a:r>
            <a:endParaRPr lang="en-US" sz="1300" dirty="0"/>
          </a:p>
        </p:txBody>
      </p:sp>
      <p:sp>
        <p:nvSpPr>
          <p:cNvPr id="13" name="Text 11"/>
          <p:cNvSpPr/>
          <p:nvPr/>
        </p:nvSpPr>
        <p:spPr>
          <a:xfrm>
            <a:off x="987552" y="1645920"/>
            <a:ext cx="7772400" cy="182880"/>
          </a:xfrm>
          <a:prstGeom prst="rect">
            <a:avLst/>
          </a:prstGeom>
          <a:noFill/>
          <a:ln/>
        </p:spPr>
        <p:txBody>
          <a:bodyPr wrap="square" lIns="0" tIns="0" rIns="0" bIns="0" rtlCol="0" anchor="ctr"/>
          <a:lstStyle/>
          <a:p>
            <a:pPr marL="0" indent="0">
              <a:buNone/>
            </a:pPr>
            <a:r>
              <a:rPr lang="en-US" sz="1000" i="1" dirty="0">
                <a:solidFill>
                  <a:srgbClr val="4A5568"/>
                </a:solidFill>
                <a:latin typeface="Calibri" pitchFamily="34" charset="0"/>
                <a:ea typeface="Calibri" pitchFamily="34" charset="-122"/>
                <a:cs typeface="Calibri" pitchFamily="34" charset="-120"/>
              </a:rPr>
              <a:t>Goals and expected business outcomes</a:t>
            </a:r>
            <a:endParaRPr lang="en-US" sz="1000" dirty="0"/>
          </a:p>
        </p:txBody>
      </p:sp>
      <p:sp>
        <p:nvSpPr>
          <p:cNvPr id="14" name="Shape 12"/>
          <p:cNvSpPr/>
          <p:nvPr/>
        </p:nvSpPr>
        <p:spPr>
          <a:xfrm>
            <a:off x="365760" y="2020824"/>
            <a:ext cx="475488" cy="402336"/>
          </a:xfrm>
          <a:prstGeom prst="rect">
            <a:avLst/>
          </a:prstGeom>
          <a:solidFill>
            <a:srgbClr val="C0392B"/>
          </a:solidFill>
          <a:ln/>
          <a:effectLst>
            <a:outerShdw blurRad="101600" dist="38100" dir="8100000" algn="bl" rotWithShape="0">
              <a:srgbClr val="000000">
                <a:alpha val="12000"/>
              </a:srgbClr>
            </a:outerShdw>
          </a:effectLst>
        </p:spPr>
      </p:sp>
      <p:sp>
        <p:nvSpPr>
          <p:cNvPr id="15" name="Text 13"/>
          <p:cNvSpPr/>
          <p:nvPr/>
        </p:nvSpPr>
        <p:spPr>
          <a:xfrm>
            <a:off x="365760" y="2020824"/>
            <a:ext cx="475488"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16" name="Text 14"/>
          <p:cNvSpPr/>
          <p:nvPr/>
        </p:nvSpPr>
        <p:spPr>
          <a:xfrm>
            <a:off x="987552" y="2020824"/>
            <a:ext cx="4114800" cy="219456"/>
          </a:xfrm>
          <a:prstGeom prst="rect">
            <a:avLst/>
          </a:prstGeom>
          <a:noFill/>
          <a:ln/>
        </p:spPr>
        <p:txBody>
          <a:bodyPr wrap="square" lIns="0" tIns="0" rIns="0" bIns="0" rtlCol="0" anchor="ctr"/>
          <a:lstStyle/>
          <a:p>
            <a:pPr marL="0" indent="0">
              <a:buNone/>
            </a:pPr>
            <a:r>
              <a:rPr lang="en-US" sz="1300" b="1" dirty="0">
                <a:solidFill>
                  <a:srgbClr val="1B2A5E"/>
                </a:solidFill>
                <a:latin typeface="Calibri" pitchFamily="34" charset="0"/>
                <a:ea typeface="Calibri" pitchFamily="34" charset="-122"/>
                <a:cs typeface="Calibri" pitchFamily="34" charset="-120"/>
              </a:rPr>
              <a:t>Case Problem</a:t>
            </a:r>
            <a:endParaRPr lang="en-US" sz="1300" dirty="0"/>
          </a:p>
        </p:txBody>
      </p:sp>
      <p:sp>
        <p:nvSpPr>
          <p:cNvPr id="17" name="Text 15"/>
          <p:cNvSpPr/>
          <p:nvPr/>
        </p:nvSpPr>
        <p:spPr>
          <a:xfrm>
            <a:off x="987552" y="2221992"/>
            <a:ext cx="7772400" cy="182880"/>
          </a:xfrm>
          <a:prstGeom prst="rect">
            <a:avLst/>
          </a:prstGeom>
          <a:noFill/>
          <a:ln/>
        </p:spPr>
        <p:txBody>
          <a:bodyPr wrap="square" lIns="0" tIns="0" rIns="0" bIns="0" rtlCol="0" anchor="ctr"/>
          <a:lstStyle/>
          <a:p>
            <a:pPr marL="0" indent="0">
              <a:buNone/>
            </a:pPr>
            <a:r>
              <a:rPr lang="en-US" sz="1000" i="1" dirty="0">
                <a:solidFill>
                  <a:srgbClr val="4A5568"/>
                </a:solidFill>
                <a:latin typeface="Calibri" pitchFamily="34" charset="0"/>
                <a:ea typeface="Calibri" pitchFamily="34" charset="-122"/>
                <a:cs typeface="Calibri" pitchFamily="34" charset="-120"/>
              </a:rPr>
              <a:t>The inventory crisis and its scale</a:t>
            </a:r>
            <a:endParaRPr lang="en-US" sz="1000" dirty="0"/>
          </a:p>
        </p:txBody>
      </p:sp>
      <p:sp>
        <p:nvSpPr>
          <p:cNvPr id="18" name="Shape 16"/>
          <p:cNvSpPr/>
          <p:nvPr/>
        </p:nvSpPr>
        <p:spPr>
          <a:xfrm>
            <a:off x="365760" y="2596896"/>
            <a:ext cx="475488" cy="402336"/>
          </a:xfrm>
          <a:prstGeom prst="rect">
            <a:avLst/>
          </a:prstGeom>
          <a:solidFill>
            <a:srgbClr val="D35400"/>
          </a:solidFill>
          <a:ln/>
          <a:effectLst>
            <a:outerShdw blurRad="101600" dist="38100" dir="8100000" algn="bl" rotWithShape="0">
              <a:srgbClr val="000000">
                <a:alpha val="12000"/>
              </a:srgbClr>
            </a:outerShdw>
          </a:effectLst>
        </p:spPr>
      </p:sp>
      <p:sp>
        <p:nvSpPr>
          <p:cNvPr id="19" name="Text 17"/>
          <p:cNvSpPr/>
          <p:nvPr/>
        </p:nvSpPr>
        <p:spPr>
          <a:xfrm>
            <a:off x="365760" y="2596896"/>
            <a:ext cx="475488"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0" name="Text 18"/>
          <p:cNvSpPr/>
          <p:nvPr/>
        </p:nvSpPr>
        <p:spPr>
          <a:xfrm>
            <a:off x="987552" y="2596896"/>
            <a:ext cx="4114800" cy="219456"/>
          </a:xfrm>
          <a:prstGeom prst="rect">
            <a:avLst/>
          </a:prstGeom>
          <a:noFill/>
          <a:ln/>
        </p:spPr>
        <p:txBody>
          <a:bodyPr wrap="square" lIns="0" tIns="0" rIns="0" bIns="0" rtlCol="0" anchor="ctr"/>
          <a:lstStyle/>
          <a:p>
            <a:pPr marL="0" indent="0">
              <a:buNone/>
            </a:pPr>
            <a:r>
              <a:rPr lang="en-US" sz="1300" b="1" dirty="0">
                <a:solidFill>
                  <a:srgbClr val="1B2A5E"/>
                </a:solidFill>
                <a:latin typeface="Calibri" pitchFamily="34" charset="0"/>
                <a:ea typeface="Calibri" pitchFamily="34" charset="-122"/>
                <a:cs typeface="Calibri" pitchFamily="34" charset="-120"/>
              </a:rPr>
              <a:t>Data Processing &amp; Methodology</a:t>
            </a:r>
            <a:endParaRPr lang="en-US" sz="1300" dirty="0"/>
          </a:p>
        </p:txBody>
      </p:sp>
      <p:sp>
        <p:nvSpPr>
          <p:cNvPr id="21" name="Text 19"/>
          <p:cNvSpPr/>
          <p:nvPr/>
        </p:nvSpPr>
        <p:spPr>
          <a:xfrm>
            <a:off x="987552" y="2798064"/>
            <a:ext cx="7772400" cy="182880"/>
          </a:xfrm>
          <a:prstGeom prst="rect">
            <a:avLst/>
          </a:prstGeom>
          <a:noFill/>
          <a:ln/>
        </p:spPr>
        <p:txBody>
          <a:bodyPr wrap="square" lIns="0" tIns="0" rIns="0" bIns="0" rtlCol="0" anchor="ctr"/>
          <a:lstStyle/>
          <a:p>
            <a:pPr marL="0" indent="0">
              <a:buNone/>
            </a:pPr>
            <a:r>
              <a:rPr lang="en-US" sz="1000" i="1" dirty="0">
                <a:solidFill>
                  <a:srgbClr val="4A5568"/>
                </a:solidFill>
                <a:latin typeface="Calibri" pitchFamily="34" charset="0"/>
                <a:ea typeface="Calibri" pitchFamily="34" charset="-122"/>
                <a:cs typeface="Calibri" pitchFamily="34" charset="-120"/>
              </a:rPr>
              <a:t>Tools, calculations and classification logic</a:t>
            </a:r>
            <a:endParaRPr lang="en-US" sz="1000" dirty="0"/>
          </a:p>
        </p:txBody>
      </p:sp>
      <p:sp>
        <p:nvSpPr>
          <p:cNvPr id="22" name="Shape 20"/>
          <p:cNvSpPr/>
          <p:nvPr/>
        </p:nvSpPr>
        <p:spPr>
          <a:xfrm>
            <a:off x="365760" y="3172968"/>
            <a:ext cx="475488" cy="402336"/>
          </a:xfrm>
          <a:prstGeom prst="rect">
            <a:avLst/>
          </a:prstGeom>
          <a:solidFill>
            <a:srgbClr val="2E4A9E"/>
          </a:solidFill>
          <a:ln/>
          <a:effectLst>
            <a:outerShdw blurRad="101600" dist="38100" dir="8100000" algn="bl" rotWithShape="0">
              <a:srgbClr val="000000">
                <a:alpha val="12000"/>
              </a:srgbClr>
            </a:outerShdw>
          </a:effectLst>
        </p:spPr>
      </p:sp>
      <p:sp>
        <p:nvSpPr>
          <p:cNvPr id="23" name="Text 21"/>
          <p:cNvSpPr/>
          <p:nvPr/>
        </p:nvSpPr>
        <p:spPr>
          <a:xfrm>
            <a:off x="365760" y="3172968"/>
            <a:ext cx="475488"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24" name="Text 22"/>
          <p:cNvSpPr/>
          <p:nvPr/>
        </p:nvSpPr>
        <p:spPr>
          <a:xfrm>
            <a:off x="987552" y="3172968"/>
            <a:ext cx="4114800" cy="219456"/>
          </a:xfrm>
          <a:prstGeom prst="rect">
            <a:avLst/>
          </a:prstGeom>
          <a:noFill/>
          <a:ln/>
        </p:spPr>
        <p:txBody>
          <a:bodyPr wrap="square" lIns="0" tIns="0" rIns="0" bIns="0" rtlCol="0" anchor="ctr"/>
          <a:lstStyle/>
          <a:p>
            <a:pPr marL="0" indent="0">
              <a:buNone/>
            </a:pPr>
            <a:r>
              <a:rPr lang="en-US" sz="1300" b="1" dirty="0">
                <a:solidFill>
                  <a:srgbClr val="1B2A5E"/>
                </a:solidFill>
                <a:latin typeface="Calibri" pitchFamily="34" charset="0"/>
                <a:ea typeface="Calibri" pitchFamily="34" charset="-122"/>
                <a:cs typeface="Calibri" pitchFamily="34" charset="-120"/>
              </a:rPr>
              <a:t>Key Insights</a:t>
            </a:r>
            <a:endParaRPr lang="en-US" sz="1300" dirty="0"/>
          </a:p>
        </p:txBody>
      </p:sp>
      <p:sp>
        <p:nvSpPr>
          <p:cNvPr id="25" name="Text 23"/>
          <p:cNvSpPr/>
          <p:nvPr/>
        </p:nvSpPr>
        <p:spPr>
          <a:xfrm>
            <a:off x="987552" y="3374136"/>
            <a:ext cx="7772400" cy="182880"/>
          </a:xfrm>
          <a:prstGeom prst="rect">
            <a:avLst/>
          </a:prstGeom>
          <a:noFill/>
          <a:ln/>
        </p:spPr>
        <p:txBody>
          <a:bodyPr wrap="square" lIns="0" tIns="0" rIns="0" bIns="0" rtlCol="0" anchor="ctr"/>
          <a:lstStyle/>
          <a:p>
            <a:pPr marL="0" indent="0">
              <a:buNone/>
            </a:pPr>
            <a:r>
              <a:rPr lang="en-US" sz="1000" i="1" dirty="0">
                <a:solidFill>
                  <a:srgbClr val="4A5568"/>
                </a:solidFill>
                <a:latin typeface="Calibri" pitchFamily="34" charset="0"/>
                <a:ea typeface="Calibri" pitchFamily="34" charset="-122"/>
                <a:cs typeface="Calibri" pitchFamily="34" charset="-120"/>
              </a:rPr>
              <a:t>7 critical findings from the data</a:t>
            </a:r>
            <a:endParaRPr lang="en-US" sz="1000" dirty="0"/>
          </a:p>
        </p:txBody>
      </p:sp>
      <p:sp>
        <p:nvSpPr>
          <p:cNvPr id="26" name="Shape 24"/>
          <p:cNvSpPr/>
          <p:nvPr/>
        </p:nvSpPr>
        <p:spPr>
          <a:xfrm>
            <a:off x="365760" y="3749040"/>
            <a:ext cx="475488" cy="402336"/>
          </a:xfrm>
          <a:prstGeom prst="rect">
            <a:avLst/>
          </a:prstGeom>
          <a:solidFill>
            <a:srgbClr val="C0392B"/>
          </a:solidFill>
          <a:ln/>
          <a:effectLst>
            <a:outerShdw blurRad="101600" dist="38100" dir="8100000" algn="bl" rotWithShape="0">
              <a:srgbClr val="000000">
                <a:alpha val="12000"/>
              </a:srgbClr>
            </a:outerShdw>
          </a:effectLst>
        </p:spPr>
      </p:sp>
      <p:sp>
        <p:nvSpPr>
          <p:cNvPr id="27" name="Text 25"/>
          <p:cNvSpPr/>
          <p:nvPr/>
        </p:nvSpPr>
        <p:spPr>
          <a:xfrm>
            <a:off x="365760" y="3749040"/>
            <a:ext cx="475488"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06</a:t>
            </a:r>
            <a:endParaRPr lang="en-US" sz="1600" dirty="0"/>
          </a:p>
        </p:txBody>
      </p:sp>
      <p:sp>
        <p:nvSpPr>
          <p:cNvPr id="28" name="Text 26"/>
          <p:cNvSpPr/>
          <p:nvPr/>
        </p:nvSpPr>
        <p:spPr>
          <a:xfrm>
            <a:off x="987552" y="3749040"/>
            <a:ext cx="4114800" cy="219456"/>
          </a:xfrm>
          <a:prstGeom prst="rect">
            <a:avLst/>
          </a:prstGeom>
          <a:noFill/>
          <a:ln/>
        </p:spPr>
        <p:txBody>
          <a:bodyPr wrap="square" lIns="0" tIns="0" rIns="0" bIns="0" rtlCol="0" anchor="ctr"/>
          <a:lstStyle/>
          <a:p>
            <a:pPr marL="0" indent="0">
              <a:buNone/>
            </a:pPr>
            <a:r>
              <a:rPr lang="en-US" sz="1300" b="1" dirty="0">
                <a:solidFill>
                  <a:srgbClr val="1B2A5E"/>
                </a:solidFill>
                <a:latin typeface="Calibri" pitchFamily="34" charset="0"/>
                <a:ea typeface="Calibri" pitchFamily="34" charset="-122"/>
                <a:cs typeface="Calibri" pitchFamily="34" charset="-120"/>
              </a:rPr>
              <a:t>Recommendations</a:t>
            </a:r>
            <a:endParaRPr lang="en-US" sz="1300" dirty="0"/>
          </a:p>
        </p:txBody>
      </p:sp>
      <p:sp>
        <p:nvSpPr>
          <p:cNvPr id="30" name="Shape 28"/>
          <p:cNvSpPr/>
          <p:nvPr/>
        </p:nvSpPr>
        <p:spPr>
          <a:xfrm>
            <a:off x="365760" y="4325112"/>
            <a:ext cx="475488" cy="402336"/>
          </a:xfrm>
          <a:prstGeom prst="rect">
            <a:avLst/>
          </a:prstGeom>
          <a:solidFill>
            <a:srgbClr val="1E8449"/>
          </a:solidFill>
          <a:ln/>
          <a:effectLst>
            <a:outerShdw blurRad="101600" dist="38100" dir="8100000" algn="bl" rotWithShape="0">
              <a:srgbClr val="000000">
                <a:alpha val="12000"/>
              </a:srgbClr>
            </a:outerShdw>
          </a:effectLst>
        </p:spPr>
      </p:sp>
      <p:sp>
        <p:nvSpPr>
          <p:cNvPr id="31" name="Text 29"/>
          <p:cNvSpPr/>
          <p:nvPr/>
        </p:nvSpPr>
        <p:spPr>
          <a:xfrm>
            <a:off x="365760" y="4325112"/>
            <a:ext cx="475488"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07</a:t>
            </a:r>
            <a:endParaRPr lang="en-US" sz="1600" dirty="0"/>
          </a:p>
        </p:txBody>
      </p:sp>
      <p:sp>
        <p:nvSpPr>
          <p:cNvPr id="32" name="Text 30"/>
          <p:cNvSpPr/>
          <p:nvPr/>
        </p:nvSpPr>
        <p:spPr>
          <a:xfrm>
            <a:off x="987552" y="4325112"/>
            <a:ext cx="4114800" cy="219456"/>
          </a:xfrm>
          <a:prstGeom prst="rect">
            <a:avLst/>
          </a:prstGeom>
          <a:noFill/>
          <a:ln/>
        </p:spPr>
        <p:txBody>
          <a:bodyPr wrap="square" lIns="0" tIns="0" rIns="0" bIns="0" rtlCol="0" anchor="ctr"/>
          <a:lstStyle/>
          <a:p>
            <a:pPr marL="0" indent="0">
              <a:buNone/>
            </a:pPr>
            <a:r>
              <a:rPr lang="en-US" sz="1300" b="1" dirty="0">
                <a:solidFill>
                  <a:srgbClr val="1B2A5E"/>
                </a:solidFill>
                <a:latin typeface="Calibri" pitchFamily="34" charset="0"/>
                <a:ea typeface="Calibri" pitchFamily="34" charset="-122"/>
                <a:cs typeface="Calibri" pitchFamily="34" charset="-120"/>
              </a:rPr>
              <a:t>Conclusion</a:t>
            </a:r>
            <a:endParaRPr lang="en-US" sz="1300" dirty="0"/>
          </a:p>
        </p:txBody>
      </p:sp>
      <p:sp>
        <p:nvSpPr>
          <p:cNvPr id="33" name="Text 31"/>
          <p:cNvSpPr/>
          <p:nvPr/>
        </p:nvSpPr>
        <p:spPr>
          <a:xfrm>
            <a:off x="987552" y="4526280"/>
            <a:ext cx="7772400" cy="182880"/>
          </a:xfrm>
          <a:prstGeom prst="rect">
            <a:avLst/>
          </a:prstGeom>
          <a:noFill/>
          <a:ln/>
        </p:spPr>
        <p:txBody>
          <a:bodyPr wrap="square" lIns="0" tIns="0" rIns="0" bIns="0" rtlCol="0" anchor="ctr"/>
          <a:lstStyle/>
          <a:p>
            <a:pPr marL="0" indent="0">
              <a:buNone/>
            </a:pPr>
            <a:r>
              <a:rPr lang="en-US" sz="1000" i="1" dirty="0">
                <a:solidFill>
                  <a:srgbClr val="4A5568"/>
                </a:solidFill>
                <a:latin typeface="Calibri" pitchFamily="34" charset="0"/>
                <a:ea typeface="Calibri" pitchFamily="34" charset="-122"/>
                <a:cs typeface="Calibri" pitchFamily="34" charset="-120"/>
              </a:rPr>
              <a:t>Summary, root cause and path forward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21020"/>
            <a:ext cx="9144000" cy="685800"/>
          </a:xfrm>
          <a:prstGeom prst="rect">
            <a:avLst/>
          </a:prstGeom>
          <a:solidFill>
            <a:srgbClr val="1B2A5E"/>
          </a:solidFill>
          <a:ln/>
        </p:spPr>
      </p:sp>
      <p:sp>
        <p:nvSpPr>
          <p:cNvPr id="3" name="Text 1"/>
          <p:cNvSpPr/>
          <p:nvPr/>
        </p:nvSpPr>
        <p:spPr>
          <a:xfrm>
            <a:off x="365760" y="0"/>
            <a:ext cx="73152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INTRODUCTION</a:t>
            </a:r>
            <a:endParaRPr lang="en-US" sz="2200" dirty="0"/>
          </a:p>
        </p:txBody>
      </p:sp>
      <p:sp>
        <p:nvSpPr>
          <p:cNvPr id="5" name="Shape 3"/>
          <p:cNvSpPr/>
          <p:nvPr/>
        </p:nvSpPr>
        <p:spPr>
          <a:xfrm>
            <a:off x="0" y="4912360"/>
            <a:ext cx="9144000" cy="251460"/>
          </a:xfrm>
          <a:prstGeom prst="rect">
            <a:avLst/>
          </a:prstGeom>
          <a:solidFill>
            <a:srgbClr val="1A3070"/>
          </a:solidFill>
          <a:ln/>
        </p:spPr>
      </p:sp>
      <p:sp>
        <p:nvSpPr>
          <p:cNvPr id="6" name="Text 4"/>
          <p:cNvSpPr/>
          <p:nvPr/>
        </p:nvSpPr>
        <p:spPr>
          <a:xfrm>
            <a:off x="274320" y="4892040"/>
            <a:ext cx="8595360" cy="251460"/>
          </a:xfrm>
          <a:prstGeom prst="rect">
            <a:avLst/>
          </a:prstGeom>
          <a:noFill/>
          <a:ln/>
        </p:spPr>
        <p:txBody>
          <a:bodyPr wrap="square" lIns="0" tIns="0" rIns="0" bIns="0" rtlCol="0" anchor="ctr"/>
          <a:lstStyle/>
          <a:p>
            <a:pPr marL="0" indent="0" algn="ctr">
              <a:buNone/>
            </a:pPr>
            <a:r>
              <a:rPr lang="en-US" sz="800" dirty="0">
                <a:solidFill>
                  <a:srgbClr val="C8D9FF"/>
                </a:solidFill>
                <a:latin typeface="Calibri" pitchFamily="34" charset="0"/>
                <a:ea typeface="Calibri" pitchFamily="34" charset="-122"/>
                <a:cs typeface="Calibri" pitchFamily="34" charset="-120"/>
              </a:rPr>
              <a:t>Easy Technologies Academy  |  #EasyTechTalent  |  Inventory Risk Analysis </a:t>
            </a:r>
            <a:endParaRPr lang="en-US" sz="800" dirty="0"/>
          </a:p>
        </p:txBody>
      </p:sp>
      <p:sp>
        <p:nvSpPr>
          <p:cNvPr id="13" name="Shape 8">
            <a:extLst>
              <a:ext uri="{FF2B5EF4-FFF2-40B4-BE49-F238E27FC236}">
                <a16:creationId xmlns:a16="http://schemas.microsoft.com/office/drawing/2014/main" id="{04AE00B4-C101-4A61-BBD9-A506534BD33D}"/>
              </a:ext>
            </a:extLst>
          </p:cNvPr>
          <p:cNvSpPr/>
          <p:nvPr/>
        </p:nvSpPr>
        <p:spPr>
          <a:xfrm>
            <a:off x="162561" y="822960"/>
            <a:ext cx="8798560" cy="3927716"/>
          </a:xfrm>
          <a:prstGeom prst="rect">
            <a:avLst/>
          </a:prstGeom>
          <a:solidFill>
            <a:srgbClr val="F0F2F8"/>
          </a:solidFill>
          <a:ln/>
          <a:effectLst>
            <a:outerShdw blurRad="101600" dist="38100" dir="8100000" algn="bl" rotWithShape="0">
              <a:srgbClr val="000000">
                <a:alpha val="12000"/>
              </a:srgbClr>
            </a:outerShdw>
          </a:effectLst>
        </p:spPr>
        <p:txBody>
          <a:bodyPr/>
          <a:lstStyle/>
          <a:p>
            <a:pPr marL="0" indent="0">
              <a:buNone/>
            </a:pPr>
            <a:r>
              <a:rPr lang="en-US" sz="1500" dirty="0">
                <a:latin typeface="Calibri" pitchFamily="34" charset="0"/>
                <a:ea typeface="Calibri" pitchFamily="34" charset="-122"/>
                <a:cs typeface="Calibri" pitchFamily="34" charset="-120"/>
              </a:rPr>
              <a:t>The company is a growing distribution business that sources products from multiple suppliers and manages inventory across several warehouses. Its core operations involve purchasing goods, storing them efficiently, and ensuring timely distribution to meet customer demand.</a:t>
            </a:r>
          </a:p>
          <a:p>
            <a:pPr marL="0" indent="0">
              <a:buNone/>
            </a:pPr>
            <a:endParaRPr lang="en-US" sz="1500" dirty="0">
              <a:latin typeface="Calibri" pitchFamily="34" charset="0"/>
              <a:ea typeface="Calibri" pitchFamily="34" charset="-122"/>
              <a:cs typeface="Calibri" pitchFamily="34" charset="-120"/>
            </a:endParaRPr>
          </a:p>
          <a:p>
            <a:pPr marL="0" indent="0">
              <a:buNone/>
            </a:pPr>
            <a:r>
              <a:rPr lang="en-US" sz="1500" dirty="0">
                <a:latin typeface="Calibri" pitchFamily="34" charset="0"/>
                <a:ea typeface="Calibri" pitchFamily="34" charset="-122"/>
                <a:cs typeface="Calibri" pitchFamily="34" charset="-120"/>
              </a:rPr>
              <a:t>As the business continues to expand, effective inventory management has become critical to maintaining operational efficiency and financial performance. Management is focused on ensuring that stock levels are properly balanced, avoiding situations where too much capital is tied up in excess inventory while still preventing stock shortages.</a:t>
            </a:r>
          </a:p>
          <a:p>
            <a:pPr marL="0" indent="0">
              <a:buNone/>
            </a:pPr>
            <a:endParaRPr lang="en-US" sz="1500" dirty="0">
              <a:latin typeface="Calibri" pitchFamily="34" charset="0"/>
              <a:ea typeface="Calibri" pitchFamily="34" charset="-122"/>
              <a:cs typeface="Calibri" pitchFamily="34" charset="-120"/>
            </a:endParaRPr>
          </a:p>
          <a:p>
            <a:pPr marL="0" indent="0">
              <a:buNone/>
            </a:pPr>
            <a:r>
              <a:rPr lang="en-US" sz="1500" dirty="0">
                <a:latin typeface="Calibri" pitchFamily="34" charset="0"/>
                <a:ea typeface="Calibri" pitchFamily="34" charset="-122"/>
                <a:cs typeface="Calibri" pitchFamily="34" charset="-120"/>
              </a:rPr>
              <a:t>There are also concerns around supplier reliance and how inventory is distributed across warehouse locations, as these factors could introduce additional operational and supply chain risk.</a:t>
            </a:r>
          </a:p>
          <a:p>
            <a:pPr marL="0" indent="0">
              <a:buNone/>
            </a:pPr>
            <a:endParaRPr lang="en-US" sz="1500" dirty="0">
              <a:latin typeface="Calibri" pitchFamily="34" charset="0"/>
              <a:ea typeface="Calibri" pitchFamily="34" charset="-122"/>
              <a:cs typeface="Calibri" pitchFamily="34" charset="-120"/>
            </a:endParaRPr>
          </a:p>
          <a:p>
            <a:pPr marL="0" indent="0">
              <a:buNone/>
            </a:pPr>
            <a:r>
              <a:rPr lang="en-US" sz="1500" dirty="0">
                <a:latin typeface="Calibri" pitchFamily="34" charset="0"/>
                <a:ea typeface="Calibri" pitchFamily="34" charset="-122"/>
                <a:cs typeface="Calibri" pitchFamily="34" charset="-120"/>
              </a:rPr>
              <a:t>The company operates across three warehouse locations managing a portfolio of 3,000 active SKUs supplied by five key suppliers. As a distribution company, its core business depends on having the right products available at the right time, stock availability directly determines whether customer orders can be fulfilled and whether the business generates revenue.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2A5E"/>
          </a:solidFill>
          <a:ln/>
        </p:spPr>
      </p:sp>
      <p:sp>
        <p:nvSpPr>
          <p:cNvPr id="3" name="Text 1"/>
          <p:cNvSpPr/>
          <p:nvPr/>
        </p:nvSpPr>
        <p:spPr>
          <a:xfrm>
            <a:off x="365760" y="0"/>
            <a:ext cx="73152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OBJECTIVES</a:t>
            </a:r>
            <a:endParaRPr lang="en-US" sz="2200" dirty="0"/>
          </a:p>
        </p:txBody>
      </p:sp>
      <p:sp>
        <p:nvSpPr>
          <p:cNvPr id="4" name="Text 2"/>
          <p:cNvSpPr/>
          <p:nvPr/>
        </p:nvSpPr>
        <p:spPr>
          <a:xfrm>
            <a:off x="365760" y="713232"/>
            <a:ext cx="2190496"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What this analysis set out to achieve</a:t>
            </a:r>
            <a:endParaRPr lang="en-US" sz="1100" dirty="0"/>
          </a:p>
        </p:txBody>
      </p:sp>
      <p:sp>
        <p:nvSpPr>
          <p:cNvPr id="5" name="Shape 3"/>
          <p:cNvSpPr/>
          <p:nvPr/>
        </p:nvSpPr>
        <p:spPr>
          <a:xfrm>
            <a:off x="0" y="4892040"/>
            <a:ext cx="9144000" cy="251460"/>
          </a:xfrm>
          <a:prstGeom prst="rect">
            <a:avLst/>
          </a:prstGeom>
          <a:solidFill>
            <a:srgbClr val="1A3070"/>
          </a:solidFill>
          <a:ln/>
        </p:spPr>
      </p:sp>
      <p:sp>
        <p:nvSpPr>
          <p:cNvPr id="6" name="Text 4"/>
          <p:cNvSpPr/>
          <p:nvPr/>
        </p:nvSpPr>
        <p:spPr>
          <a:xfrm>
            <a:off x="274320" y="4892040"/>
            <a:ext cx="8595360" cy="251460"/>
          </a:xfrm>
          <a:prstGeom prst="rect">
            <a:avLst/>
          </a:prstGeom>
          <a:noFill/>
          <a:ln/>
        </p:spPr>
        <p:txBody>
          <a:bodyPr wrap="square" lIns="0" tIns="0" rIns="0" bIns="0" rtlCol="0" anchor="ctr"/>
          <a:lstStyle/>
          <a:p>
            <a:pPr marL="0" indent="0" algn="ctr">
              <a:buNone/>
            </a:pPr>
            <a:r>
              <a:rPr lang="en-US" sz="800" dirty="0">
                <a:solidFill>
                  <a:srgbClr val="C8D9FF"/>
                </a:solidFill>
                <a:latin typeface="Calibri" pitchFamily="34" charset="0"/>
                <a:ea typeface="Calibri" pitchFamily="34" charset="-122"/>
                <a:cs typeface="Calibri" pitchFamily="34" charset="-120"/>
              </a:rPr>
              <a:t>Easy Technologies Academy  |  #EasyTechTalent  |  Inventory Risk Analysis </a:t>
            </a:r>
            <a:endParaRPr lang="en-US" sz="800" dirty="0"/>
          </a:p>
        </p:txBody>
      </p:sp>
      <p:sp>
        <p:nvSpPr>
          <p:cNvPr id="8" name="Text 6"/>
          <p:cNvSpPr/>
          <p:nvPr/>
        </p:nvSpPr>
        <p:spPr>
          <a:xfrm>
            <a:off x="493776" y="987552"/>
            <a:ext cx="1954784" cy="347472"/>
          </a:xfrm>
          <a:prstGeom prst="rect">
            <a:avLst/>
          </a:prstGeom>
          <a:noFill/>
          <a:ln/>
        </p:spPr>
        <p:txBody>
          <a:bodyPr wrap="square" lIns="0" tIns="0" rIns="0" bIns="0" rtlCol="0" anchor="ctr"/>
          <a:lstStyle/>
          <a:p>
            <a:pPr marL="0" indent="0">
              <a:buNone/>
            </a:pPr>
            <a:r>
              <a:rPr lang="en-US" sz="1500" b="1" dirty="0">
                <a:solidFill>
                  <a:srgbClr val="1B2A5E"/>
                </a:solidFill>
                <a:latin typeface="Calibri" pitchFamily="34" charset="0"/>
                <a:ea typeface="Calibri" pitchFamily="34" charset="-122"/>
                <a:cs typeface="Calibri" pitchFamily="34" charset="-120"/>
              </a:rPr>
              <a:t>Primary Objective</a:t>
            </a:r>
            <a:endParaRPr lang="en-US" sz="1500" dirty="0"/>
          </a:p>
        </p:txBody>
      </p:sp>
      <p:sp>
        <p:nvSpPr>
          <p:cNvPr id="11" name="Shape 8">
            <a:extLst>
              <a:ext uri="{FF2B5EF4-FFF2-40B4-BE49-F238E27FC236}">
                <a16:creationId xmlns:a16="http://schemas.microsoft.com/office/drawing/2014/main" id="{B9F7AB8A-0662-4691-9E8F-AACC0CD08A45}"/>
              </a:ext>
            </a:extLst>
          </p:cNvPr>
          <p:cNvSpPr/>
          <p:nvPr/>
        </p:nvSpPr>
        <p:spPr>
          <a:xfrm>
            <a:off x="162561" y="1335024"/>
            <a:ext cx="8849359" cy="3415652"/>
          </a:xfrm>
          <a:prstGeom prst="rect">
            <a:avLst/>
          </a:prstGeom>
          <a:solidFill>
            <a:srgbClr val="F0F2F8"/>
          </a:solidFill>
          <a:ln/>
          <a:effectLst>
            <a:outerShdw blurRad="101600" dist="38100" dir="8100000" algn="bl" rotWithShape="0">
              <a:srgbClr val="000000">
                <a:alpha val="12000"/>
              </a:srgbClr>
            </a:outerShdw>
          </a:effectLst>
        </p:spPr>
        <p:txBody>
          <a:bodyPr/>
          <a:lstStyle/>
          <a:p>
            <a:pPr marL="0" indent="0">
              <a:buNone/>
            </a:pPr>
            <a:r>
              <a:rPr lang="en-US" sz="1400" dirty="0">
                <a:latin typeface="Calibri" pitchFamily="34" charset="0"/>
                <a:ea typeface="Calibri" pitchFamily="34" charset="-122"/>
                <a:cs typeface="Calibri" pitchFamily="34" charset="-120"/>
              </a:rPr>
              <a:t>To conduct a full inventory risk assessment that enables the distribution company to make informed, data-driven decisions about stock management, procurement and operational planning.</a:t>
            </a:r>
          </a:p>
          <a:p>
            <a:pPr marL="0" indent="0">
              <a:buNone/>
            </a:pPr>
            <a:endParaRPr lang="en-US" sz="1400" dirty="0">
              <a:latin typeface="Calibri" pitchFamily="34" charset="0"/>
              <a:ea typeface="Calibri" pitchFamily="34" charset="-122"/>
              <a:cs typeface="Calibri" pitchFamily="34" charset="-120"/>
            </a:endParaRPr>
          </a:p>
          <a:p>
            <a:pPr marL="0" indent="0">
              <a:buNone/>
            </a:pPr>
            <a:r>
              <a:rPr lang="en-US" sz="1400" b="1" dirty="0">
                <a:latin typeface="Calibri" pitchFamily="34" charset="0"/>
                <a:ea typeface="Calibri" pitchFamily="34" charset="-122"/>
                <a:cs typeface="Calibri" pitchFamily="34" charset="-120"/>
              </a:rPr>
              <a:t>Specific Objectives</a:t>
            </a:r>
          </a:p>
          <a:p>
            <a:pPr marL="285750" indent="-285750">
              <a:buFont typeface="Arial" panose="020B0604020202020204" pitchFamily="34" charset="0"/>
              <a:buChar char="•"/>
            </a:pPr>
            <a:r>
              <a:rPr lang="en-US" sz="1400" dirty="0">
                <a:latin typeface="Calibri" pitchFamily="34" charset="0"/>
                <a:ea typeface="Calibri" pitchFamily="34" charset="-122"/>
                <a:cs typeface="Calibri" pitchFamily="34" charset="-120"/>
              </a:rPr>
              <a:t>Structure and prepare the dataset for analysis</a:t>
            </a:r>
          </a:p>
          <a:p>
            <a:pPr marL="285750" indent="-285750">
              <a:buFont typeface="Arial" panose="020B0604020202020204" pitchFamily="34" charset="0"/>
              <a:buChar char="•"/>
            </a:pPr>
            <a:r>
              <a:rPr lang="en-US" sz="1400" dirty="0">
                <a:latin typeface="Calibri" pitchFamily="34" charset="0"/>
                <a:ea typeface="Calibri" pitchFamily="34" charset="-122"/>
                <a:cs typeface="Calibri" pitchFamily="34" charset="-120"/>
              </a:rPr>
              <a:t>Develop relevant calculations to measure stock health</a:t>
            </a:r>
          </a:p>
          <a:p>
            <a:pPr marL="285750" indent="-285750">
              <a:buFont typeface="Arial" panose="020B0604020202020204" pitchFamily="34" charset="0"/>
              <a:buChar char="•"/>
            </a:pPr>
            <a:r>
              <a:rPr lang="en-US" sz="1400" dirty="0">
                <a:latin typeface="Calibri" pitchFamily="34" charset="0"/>
                <a:ea typeface="Calibri" pitchFamily="34" charset="-122"/>
                <a:cs typeface="Calibri" pitchFamily="34" charset="-120"/>
              </a:rPr>
              <a:t>Identify and quantify risk areas across the portfolio</a:t>
            </a:r>
          </a:p>
          <a:p>
            <a:pPr marL="285750" indent="-285750">
              <a:buFont typeface="Arial" panose="020B0604020202020204" pitchFamily="34" charset="0"/>
              <a:buChar char="•"/>
            </a:pPr>
            <a:r>
              <a:rPr lang="en-US" sz="1400" dirty="0">
                <a:latin typeface="Calibri" pitchFamily="34" charset="0"/>
                <a:ea typeface="Calibri" pitchFamily="34" charset="-122"/>
                <a:cs typeface="Calibri" pitchFamily="34" charset="-120"/>
              </a:rPr>
              <a:t>Highlight operational concerns affecting business performance</a:t>
            </a:r>
          </a:p>
          <a:p>
            <a:pPr marL="285750" indent="-285750">
              <a:buFont typeface="Arial" panose="020B0604020202020204" pitchFamily="34" charset="0"/>
              <a:buChar char="•"/>
            </a:pPr>
            <a:r>
              <a:rPr lang="en-US" sz="1400" dirty="0">
                <a:latin typeface="Calibri" pitchFamily="34" charset="0"/>
                <a:ea typeface="Calibri" pitchFamily="34" charset="-122"/>
                <a:cs typeface="Calibri" pitchFamily="34" charset="-120"/>
              </a:rPr>
              <a:t>Present findings clearly with actionable recommendations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2A5E"/>
          </a:solidFill>
          <a:ln/>
        </p:spPr>
      </p:sp>
      <p:sp>
        <p:nvSpPr>
          <p:cNvPr id="3" name="Text 1"/>
          <p:cNvSpPr/>
          <p:nvPr/>
        </p:nvSpPr>
        <p:spPr>
          <a:xfrm>
            <a:off x="365760" y="0"/>
            <a:ext cx="73152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CASE PROBLEM</a:t>
            </a:r>
            <a:endParaRPr lang="en-US" sz="2200" dirty="0"/>
          </a:p>
        </p:txBody>
      </p:sp>
      <p:sp>
        <p:nvSpPr>
          <p:cNvPr id="5" name="Shape 3"/>
          <p:cNvSpPr/>
          <p:nvPr/>
        </p:nvSpPr>
        <p:spPr>
          <a:xfrm>
            <a:off x="0" y="4892040"/>
            <a:ext cx="9144000" cy="251460"/>
          </a:xfrm>
          <a:prstGeom prst="rect">
            <a:avLst/>
          </a:prstGeom>
          <a:solidFill>
            <a:srgbClr val="1A3070"/>
          </a:solidFill>
          <a:ln/>
        </p:spPr>
      </p:sp>
      <p:sp>
        <p:nvSpPr>
          <p:cNvPr id="6" name="Text 4"/>
          <p:cNvSpPr/>
          <p:nvPr/>
        </p:nvSpPr>
        <p:spPr>
          <a:xfrm>
            <a:off x="274320" y="4892040"/>
            <a:ext cx="8595360" cy="251460"/>
          </a:xfrm>
          <a:prstGeom prst="rect">
            <a:avLst/>
          </a:prstGeom>
          <a:noFill/>
          <a:ln/>
        </p:spPr>
        <p:txBody>
          <a:bodyPr wrap="square" lIns="0" tIns="0" rIns="0" bIns="0" rtlCol="0" anchor="ctr"/>
          <a:lstStyle/>
          <a:p>
            <a:pPr marL="0" indent="0" algn="ctr">
              <a:buNone/>
            </a:pPr>
            <a:r>
              <a:rPr lang="en-US" sz="800" dirty="0">
                <a:solidFill>
                  <a:srgbClr val="C8D9FF"/>
                </a:solidFill>
                <a:latin typeface="Calibri" pitchFamily="34" charset="0"/>
                <a:ea typeface="Calibri" pitchFamily="34" charset="-122"/>
                <a:cs typeface="Calibri" pitchFamily="34" charset="-120"/>
              </a:rPr>
              <a:t>Easy Technologies Academy  |  #EasyTechTalent  |  Inventory Risk Analysis</a:t>
            </a:r>
            <a:endParaRPr lang="en-US" sz="800" dirty="0"/>
          </a:p>
        </p:txBody>
      </p:sp>
      <p:sp>
        <p:nvSpPr>
          <p:cNvPr id="10" name="Shape 8"/>
          <p:cNvSpPr/>
          <p:nvPr/>
        </p:nvSpPr>
        <p:spPr>
          <a:xfrm>
            <a:off x="121920" y="758952"/>
            <a:ext cx="8900160" cy="3465576"/>
          </a:xfrm>
          <a:prstGeom prst="rect">
            <a:avLst/>
          </a:prstGeom>
          <a:solidFill>
            <a:srgbClr val="F0F2F8"/>
          </a:solidFill>
          <a:ln/>
          <a:effectLst>
            <a:outerShdw blurRad="101600" dist="38100" dir="8100000" algn="bl" rotWithShape="0">
              <a:srgbClr val="000000">
                <a:alpha val="12000"/>
              </a:srgbClr>
            </a:outerShdw>
          </a:effectLst>
        </p:spPr>
        <p:txBody>
          <a:bodyPr/>
          <a:lstStyle/>
          <a:p>
            <a:r>
              <a:rPr lang="en-US" sz="1400" dirty="0"/>
              <a:t>The company is currently facing concerns about the efficiency and risk exposure of its inventory management practices. Despite maintaining substantial stock levels across its warehouses, there are indications that capital may be excessively tied up in inventory, potentially impacting cash flow and overall financial performance.</a:t>
            </a:r>
          </a:p>
          <a:p>
            <a:endParaRPr lang="en-US" sz="1400" dirty="0"/>
          </a:p>
          <a:p>
            <a:r>
              <a:rPr lang="en-US" sz="1400" dirty="0"/>
              <a:t>At the same time, inconsistencies in stock levels suggest that some products may be overstocked while others are understocked or at risk of stockout. This imbalance raises concerns about demand planning and procurement decisions.</a:t>
            </a:r>
          </a:p>
          <a:p>
            <a:endParaRPr lang="en-US" sz="1400" dirty="0"/>
          </a:p>
          <a:p>
            <a:r>
              <a:rPr lang="en-US" sz="1400" dirty="0"/>
              <a:t>Additionally, the company may be increasingly dependent on certain suppliers, which could expose operations to disruption if supply issues arise. There is also a need to assess whether inventory is evenly and effectively distributed across warehouse locations, as concentration in specific locations could create further operational risk.</a:t>
            </a:r>
          </a:p>
          <a:p>
            <a:endParaRPr lang="en-US" sz="1400" dirty="0"/>
          </a:p>
          <a:p>
            <a:r>
              <a:rPr lang="en-US" sz="1400" dirty="0"/>
              <a:t>These challenges highlight the need for a detailed analysis to uncover inefficiencies, identify risk areas, and support better inventory management decisions</a:t>
            </a:r>
          </a:p>
        </p:txBody>
      </p:sp>
      <p:sp>
        <p:nvSpPr>
          <p:cNvPr id="35" name="Shape 33"/>
          <p:cNvSpPr/>
          <p:nvPr/>
        </p:nvSpPr>
        <p:spPr>
          <a:xfrm>
            <a:off x="365760" y="4526280"/>
            <a:ext cx="8412480" cy="292608"/>
          </a:xfrm>
          <a:prstGeom prst="rect">
            <a:avLst/>
          </a:prstGeom>
          <a:solidFill>
            <a:srgbClr val="1B2A5E"/>
          </a:solidFill>
          <a:ln/>
        </p:spPr>
      </p:sp>
      <p:sp>
        <p:nvSpPr>
          <p:cNvPr id="36" name="Text 34"/>
          <p:cNvSpPr/>
          <p:nvPr/>
        </p:nvSpPr>
        <p:spPr>
          <a:xfrm>
            <a:off x="457200" y="4526280"/>
            <a:ext cx="8229600"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  THE CORE PARADOX: The business has too much of what it does not need and too little of what it does — a procurement failure, not a cash flow problem.</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2A5E"/>
          </a:solidFill>
          <a:ln/>
        </p:spPr>
      </p:sp>
      <p:sp>
        <p:nvSpPr>
          <p:cNvPr id="3" name="Text 1"/>
          <p:cNvSpPr/>
          <p:nvPr/>
        </p:nvSpPr>
        <p:spPr>
          <a:xfrm>
            <a:off x="365760" y="0"/>
            <a:ext cx="73152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 PROCESSING &amp; METHODOLOGY</a:t>
            </a:r>
            <a:endParaRPr lang="en-US" sz="2200" dirty="0"/>
          </a:p>
        </p:txBody>
      </p:sp>
      <p:sp>
        <p:nvSpPr>
          <p:cNvPr id="5" name="Shape 3"/>
          <p:cNvSpPr/>
          <p:nvPr/>
        </p:nvSpPr>
        <p:spPr>
          <a:xfrm>
            <a:off x="0" y="4892040"/>
            <a:ext cx="9144000" cy="251460"/>
          </a:xfrm>
          <a:prstGeom prst="rect">
            <a:avLst/>
          </a:prstGeom>
          <a:solidFill>
            <a:srgbClr val="1A3070"/>
          </a:solidFill>
          <a:ln/>
        </p:spPr>
      </p:sp>
      <p:sp>
        <p:nvSpPr>
          <p:cNvPr id="6" name="Text 4"/>
          <p:cNvSpPr/>
          <p:nvPr/>
        </p:nvSpPr>
        <p:spPr>
          <a:xfrm>
            <a:off x="274320" y="4892040"/>
            <a:ext cx="8595360" cy="251460"/>
          </a:xfrm>
          <a:prstGeom prst="rect">
            <a:avLst/>
          </a:prstGeom>
          <a:noFill/>
          <a:ln/>
        </p:spPr>
        <p:txBody>
          <a:bodyPr wrap="square" lIns="0" tIns="0" rIns="0" bIns="0" rtlCol="0" anchor="ctr"/>
          <a:lstStyle/>
          <a:p>
            <a:pPr marL="0" indent="0" algn="ctr">
              <a:buNone/>
            </a:pPr>
            <a:r>
              <a:rPr lang="en-US" sz="800" dirty="0">
                <a:solidFill>
                  <a:srgbClr val="C8D9FF"/>
                </a:solidFill>
                <a:latin typeface="Calibri" pitchFamily="34" charset="0"/>
                <a:ea typeface="Calibri" pitchFamily="34" charset="-122"/>
                <a:cs typeface="Calibri" pitchFamily="34" charset="-120"/>
              </a:rPr>
              <a:t>Easy Technologies Academy  |  #EasyTechTalent  |  Inventory Risk Analysis </a:t>
            </a:r>
            <a:endParaRPr lang="en-US" sz="800" dirty="0"/>
          </a:p>
        </p:txBody>
      </p:sp>
      <p:sp>
        <p:nvSpPr>
          <p:cNvPr id="32" name="Shape 8">
            <a:extLst>
              <a:ext uri="{FF2B5EF4-FFF2-40B4-BE49-F238E27FC236}">
                <a16:creationId xmlns:a16="http://schemas.microsoft.com/office/drawing/2014/main" id="{DD82684A-F3F5-4012-889D-34DEFF6B194F}"/>
              </a:ext>
            </a:extLst>
          </p:cNvPr>
          <p:cNvSpPr/>
          <p:nvPr/>
        </p:nvSpPr>
        <p:spPr>
          <a:xfrm>
            <a:off x="121920" y="758951"/>
            <a:ext cx="8849360" cy="3844579"/>
          </a:xfrm>
          <a:prstGeom prst="rect">
            <a:avLst/>
          </a:prstGeom>
          <a:solidFill>
            <a:srgbClr val="F0F2F8"/>
          </a:solidFill>
          <a:ln/>
          <a:effectLst>
            <a:outerShdw blurRad="101600" dist="38100" dir="8100000" algn="bl" rotWithShape="0">
              <a:srgbClr val="000000">
                <a:alpha val="12000"/>
              </a:srgbClr>
            </a:outerShdw>
          </a:effectLst>
        </p:spPr>
        <p:txBody>
          <a:bodyPr/>
          <a:lstStyle/>
          <a:p>
            <a:r>
              <a:rPr lang="en-US" sz="1300" dirty="0"/>
              <a:t>The analysis was conducted using Excel and Power Query to transform raw inventory data into a structured and analysis-ready format.</a:t>
            </a:r>
          </a:p>
          <a:p>
            <a:endParaRPr lang="en-US" sz="1300" dirty="0"/>
          </a:p>
          <a:p>
            <a:r>
              <a:rPr lang="en-US" sz="1300" dirty="0"/>
              <a:t>The dataset was first cleaned by ensuring consistent data types, particularly for date fields such as Last Restock Date and Next Restock Date. Missing values and inconsistencies were reviewed to maintain data integrity. Power Query was used to standardize the dataset and create additional calculated fields required for analysis.</a:t>
            </a:r>
          </a:p>
          <a:p>
            <a:endParaRPr lang="en-US" sz="1300" dirty="0"/>
          </a:p>
          <a:p>
            <a:r>
              <a:rPr lang="en-US" sz="1300" dirty="0"/>
              <a:t>Key metrics were then derived to support business evaluation. These included inventory value (calculated as current stock multiplied by unit price), excess stock value, and shortfall value. Stock status categories such as Overstocked, Adequate, Understocked, Critical, and Zero Stock were created based on comparisons between current stock and reorder levels.</a:t>
            </a:r>
          </a:p>
          <a:p>
            <a:endParaRPr lang="en-US" sz="1300" dirty="0"/>
          </a:p>
          <a:p>
            <a:r>
              <a:rPr lang="en-US" sz="1300" dirty="0"/>
              <a:t>Further calculations were performed to assess restock cycles and identify overdue restocking risks. The dataset was then loaded into Excel, where pivot tables and calculated measures were used to aggregate data across categories, suppliers, and warehouse locations.</a:t>
            </a:r>
          </a:p>
          <a:p>
            <a:endParaRPr lang="en-US" sz="1300" dirty="0"/>
          </a:p>
          <a:p>
            <a:r>
              <a:rPr lang="en-US" sz="1300" dirty="0"/>
              <a:t>Finally, an interactive dashboard was developed to visualize key metrics, highlight risk areas, and support data-driven decision-making.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2A5E"/>
          </a:solidFill>
          <a:ln/>
        </p:spPr>
      </p:sp>
      <p:sp>
        <p:nvSpPr>
          <p:cNvPr id="3" name="Text 1"/>
          <p:cNvSpPr/>
          <p:nvPr/>
        </p:nvSpPr>
        <p:spPr>
          <a:xfrm>
            <a:off x="132080" y="0"/>
            <a:ext cx="3870960" cy="45854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DASHBOARD</a:t>
            </a:r>
            <a:endParaRPr lang="en-US" sz="3200" dirty="0"/>
          </a:p>
        </p:txBody>
      </p:sp>
      <p:sp>
        <p:nvSpPr>
          <p:cNvPr id="5" name="Shape 3"/>
          <p:cNvSpPr/>
          <p:nvPr/>
        </p:nvSpPr>
        <p:spPr>
          <a:xfrm>
            <a:off x="0" y="4892040"/>
            <a:ext cx="9144000" cy="251460"/>
          </a:xfrm>
          <a:prstGeom prst="rect">
            <a:avLst/>
          </a:prstGeom>
          <a:solidFill>
            <a:srgbClr val="1A3070"/>
          </a:solidFill>
          <a:ln/>
        </p:spPr>
      </p:sp>
      <p:sp>
        <p:nvSpPr>
          <p:cNvPr id="6" name="Text 4"/>
          <p:cNvSpPr/>
          <p:nvPr/>
        </p:nvSpPr>
        <p:spPr>
          <a:xfrm>
            <a:off x="274320" y="4892040"/>
            <a:ext cx="8595360" cy="251460"/>
          </a:xfrm>
          <a:prstGeom prst="rect">
            <a:avLst/>
          </a:prstGeom>
          <a:noFill/>
          <a:ln/>
        </p:spPr>
        <p:txBody>
          <a:bodyPr wrap="square" lIns="0" tIns="0" rIns="0" bIns="0" rtlCol="0" anchor="ctr"/>
          <a:lstStyle/>
          <a:p>
            <a:pPr marL="0" indent="0" algn="ctr">
              <a:buNone/>
            </a:pPr>
            <a:r>
              <a:rPr lang="en-US" sz="800" dirty="0">
                <a:solidFill>
                  <a:srgbClr val="C8D9FF"/>
                </a:solidFill>
                <a:latin typeface="Calibri" pitchFamily="34" charset="0"/>
                <a:ea typeface="Calibri" pitchFamily="34" charset="-122"/>
                <a:cs typeface="Calibri" pitchFamily="34" charset="-120"/>
              </a:rPr>
              <a:t>Easy Technologies Academy  |  #EasyTechTalent  |  Inventory Risk Analysis</a:t>
            </a:r>
            <a:endParaRPr lang="en-US" sz="800" dirty="0"/>
          </a:p>
        </p:txBody>
      </p:sp>
      <p:pic>
        <p:nvPicPr>
          <p:cNvPr id="7" name="Picture 6" descr="A screenshot of a computer screen&#10;&#10;AI-generated content may be incorrect.">
            <a:extLst>
              <a:ext uri="{FF2B5EF4-FFF2-40B4-BE49-F238E27FC236}">
                <a16:creationId xmlns:a16="http://schemas.microsoft.com/office/drawing/2014/main" id="{D88A77FA-1005-44C6-95C8-78D712C37AB2}"/>
              </a:ext>
            </a:extLst>
          </p:cNvPr>
          <p:cNvPicPr>
            <a:picLocks noChangeAspect="1"/>
          </p:cNvPicPr>
          <p:nvPr/>
        </p:nvPicPr>
        <p:blipFill>
          <a:blip r:embed="rId3"/>
          <a:stretch>
            <a:fillRect/>
          </a:stretch>
        </p:blipFill>
        <p:spPr>
          <a:xfrm>
            <a:off x="0" y="458540"/>
            <a:ext cx="9144000" cy="4226419"/>
          </a:xfrm>
          <a:prstGeom prst="rect">
            <a:avLst/>
          </a:prstGeom>
        </p:spPr>
      </p:pic>
    </p:spTree>
    <p:extLst>
      <p:ext uri="{BB962C8B-B14F-4D97-AF65-F5344CB8AC3E}">
        <p14:creationId xmlns:p14="http://schemas.microsoft.com/office/powerpoint/2010/main" val="3329737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2A5E"/>
          </a:solidFill>
          <a:ln/>
        </p:spPr>
      </p:sp>
      <p:sp>
        <p:nvSpPr>
          <p:cNvPr id="3" name="Text 1"/>
          <p:cNvSpPr/>
          <p:nvPr/>
        </p:nvSpPr>
        <p:spPr>
          <a:xfrm>
            <a:off x="365760" y="0"/>
            <a:ext cx="73152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 PROCESSING &amp; METHODOLOGY</a:t>
            </a:r>
            <a:endParaRPr lang="en-US" sz="2200" dirty="0"/>
          </a:p>
        </p:txBody>
      </p:sp>
      <p:sp>
        <p:nvSpPr>
          <p:cNvPr id="5" name="Shape 3"/>
          <p:cNvSpPr/>
          <p:nvPr/>
        </p:nvSpPr>
        <p:spPr>
          <a:xfrm>
            <a:off x="0" y="4892040"/>
            <a:ext cx="9144000" cy="251460"/>
          </a:xfrm>
          <a:prstGeom prst="rect">
            <a:avLst/>
          </a:prstGeom>
          <a:solidFill>
            <a:srgbClr val="1A3070"/>
          </a:solidFill>
          <a:ln/>
        </p:spPr>
      </p:sp>
      <p:sp>
        <p:nvSpPr>
          <p:cNvPr id="6" name="Text 4"/>
          <p:cNvSpPr/>
          <p:nvPr/>
        </p:nvSpPr>
        <p:spPr>
          <a:xfrm>
            <a:off x="274320" y="4892040"/>
            <a:ext cx="8595360" cy="251460"/>
          </a:xfrm>
          <a:prstGeom prst="rect">
            <a:avLst/>
          </a:prstGeom>
          <a:noFill/>
          <a:ln/>
        </p:spPr>
        <p:txBody>
          <a:bodyPr wrap="square" lIns="0" tIns="0" rIns="0" bIns="0" rtlCol="0" anchor="ctr"/>
          <a:lstStyle/>
          <a:p>
            <a:pPr marL="0" indent="0" algn="ctr">
              <a:buNone/>
            </a:pPr>
            <a:r>
              <a:rPr lang="en-US" sz="800" dirty="0">
                <a:solidFill>
                  <a:srgbClr val="C8D9FF"/>
                </a:solidFill>
                <a:latin typeface="Calibri" pitchFamily="34" charset="0"/>
                <a:ea typeface="Calibri" pitchFamily="34" charset="-122"/>
                <a:cs typeface="Calibri" pitchFamily="34" charset="-120"/>
              </a:rPr>
              <a:t>Easy Technologies Academy  |  #EasyTechTalent  |  Inventory Risk Analysis</a:t>
            </a:r>
            <a:endParaRPr lang="en-US" sz="800" dirty="0"/>
          </a:p>
        </p:txBody>
      </p:sp>
      <p:pic>
        <p:nvPicPr>
          <p:cNvPr id="8" name="Picture 7" descr="A screenshot of a computer&#10;&#10;AI-generated content may be incorrect.">
            <a:extLst>
              <a:ext uri="{FF2B5EF4-FFF2-40B4-BE49-F238E27FC236}">
                <a16:creationId xmlns:a16="http://schemas.microsoft.com/office/drawing/2014/main" id="{0C8C900E-D612-46A9-B9ED-46C10CEB8107}"/>
              </a:ext>
            </a:extLst>
          </p:cNvPr>
          <p:cNvPicPr>
            <a:picLocks noChangeAspect="1"/>
          </p:cNvPicPr>
          <p:nvPr/>
        </p:nvPicPr>
        <p:blipFill>
          <a:blip r:embed="rId3"/>
          <a:stretch>
            <a:fillRect/>
          </a:stretch>
        </p:blipFill>
        <p:spPr>
          <a:xfrm>
            <a:off x="91440" y="72586"/>
            <a:ext cx="8971280" cy="5014751"/>
          </a:xfrm>
          <a:prstGeom prst="rect">
            <a:avLst/>
          </a:prstGeom>
        </p:spPr>
      </p:pic>
    </p:spTree>
    <p:extLst>
      <p:ext uri="{BB962C8B-B14F-4D97-AF65-F5344CB8AC3E}">
        <p14:creationId xmlns:p14="http://schemas.microsoft.com/office/powerpoint/2010/main" val="113963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2A5E"/>
          </a:solidFill>
          <a:ln/>
        </p:spPr>
      </p:sp>
      <p:sp>
        <p:nvSpPr>
          <p:cNvPr id="3" name="Text 1"/>
          <p:cNvSpPr/>
          <p:nvPr/>
        </p:nvSpPr>
        <p:spPr>
          <a:xfrm>
            <a:off x="365760" y="0"/>
            <a:ext cx="73152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KEY INSIGHTS</a:t>
            </a:r>
            <a:endParaRPr lang="en-US" sz="2200" dirty="0"/>
          </a:p>
        </p:txBody>
      </p:sp>
      <p:sp>
        <p:nvSpPr>
          <p:cNvPr id="4" name="Text 2"/>
          <p:cNvSpPr/>
          <p:nvPr/>
        </p:nvSpPr>
        <p:spPr>
          <a:xfrm>
            <a:off x="365760" y="713232"/>
            <a:ext cx="822960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8 critical findings from the data analysis</a:t>
            </a:r>
            <a:endParaRPr lang="en-US" sz="1100" dirty="0"/>
          </a:p>
        </p:txBody>
      </p:sp>
      <p:sp>
        <p:nvSpPr>
          <p:cNvPr id="5" name="Shape 3"/>
          <p:cNvSpPr/>
          <p:nvPr/>
        </p:nvSpPr>
        <p:spPr>
          <a:xfrm>
            <a:off x="0" y="4892040"/>
            <a:ext cx="9144000" cy="251460"/>
          </a:xfrm>
          <a:prstGeom prst="rect">
            <a:avLst/>
          </a:prstGeom>
          <a:solidFill>
            <a:srgbClr val="1A3070"/>
          </a:solidFill>
          <a:ln/>
        </p:spPr>
      </p:sp>
      <p:sp>
        <p:nvSpPr>
          <p:cNvPr id="6" name="Text 4"/>
          <p:cNvSpPr/>
          <p:nvPr/>
        </p:nvSpPr>
        <p:spPr>
          <a:xfrm>
            <a:off x="274320" y="4892040"/>
            <a:ext cx="8595360" cy="251460"/>
          </a:xfrm>
          <a:prstGeom prst="rect">
            <a:avLst/>
          </a:prstGeom>
          <a:noFill/>
          <a:ln/>
        </p:spPr>
        <p:txBody>
          <a:bodyPr wrap="square" lIns="0" tIns="0" rIns="0" bIns="0" rtlCol="0" anchor="ctr"/>
          <a:lstStyle/>
          <a:p>
            <a:pPr marL="0" indent="0" algn="ctr">
              <a:buNone/>
            </a:pPr>
            <a:r>
              <a:rPr lang="en-US" sz="800" dirty="0">
                <a:solidFill>
                  <a:srgbClr val="C8D9FF"/>
                </a:solidFill>
                <a:latin typeface="Calibri" pitchFamily="34" charset="0"/>
                <a:ea typeface="Calibri" pitchFamily="34" charset="-122"/>
                <a:cs typeface="Calibri" pitchFamily="34" charset="-120"/>
              </a:rPr>
              <a:t>Easy Technologies Academy  |  #EasyTechTalent  |  Inventory Risk Analysis </a:t>
            </a:r>
            <a:endParaRPr lang="en-US" sz="800" dirty="0"/>
          </a:p>
        </p:txBody>
      </p:sp>
      <p:sp>
        <p:nvSpPr>
          <p:cNvPr id="42" name="Shape 8">
            <a:extLst>
              <a:ext uri="{FF2B5EF4-FFF2-40B4-BE49-F238E27FC236}">
                <a16:creationId xmlns:a16="http://schemas.microsoft.com/office/drawing/2014/main" id="{6F825680-ECCA-4C57-80EA-3328A1174BEC}"/>
              </a:ext>
            </a:extLst>
          </p:cNvPr>
          <p:cNvSpPr/>
          <p:nvPr/>
        </p:nvSpPr>
        <p:spPr>
          <a:xfrm>
            <a:off x="193040" y="987552"/>
            <a:ext cx="8676640" cy="3726688"/>
          </a:xfrm>
          <a:prstGeom prst="rect">
            <a:avLst/>
          </a:prstGeom>
          <a:solidFill>
            <a:srgbClr val="F0F2F8"/>
          </a:solidFill>
          <a:ln/>
          <a:effectLst>
            <a:outerShdw blurRad="101600" dist="38100" dir="8100000" algn="bl" rotWithShape="0">
              <a:srgbClr val="000000">
                <a:alpha val="12000"/>
              </a:srgbClr>
            </a:outerShdw>
          </a:effectLst>
        </p:spPr>
        <p:txBody>
          <a:bodyPr/>
          <a:lstStyle/>
          <a:p>
            <a:pPr marL="228600" indent="-228600">
              <a:buFont typeface="+mj-lt"/>
              <a:buAutoNum type="arabicPeriod"/>
            </a:pPr>
            <a:r>
              <a:rPr lang="en-US" sz="1300" dirty="0"/>
              <a:t>$122.2M is Frozen in Excess Stock. </a:t>
            </a:r>
          </a:p>
          <a:p>
            <a:r>
              <a:rPr lang="en-US" sz="1300" dirty="0"/>
              <a:t>59.7% of all SKUs (1,791 items) are overstocked above 3× their reorder level. The average overstock ratio across these items is 8.1× nearly 8 times what is operationally needed. This capital is sitting idle on shelves when it could be used to restock critical items or invested back into the business.</a:t>
            </a:r>
          </a:p>
          <a:p>
            <a:endParaRPr lang="en-US" sz="1300" dirty="0"/>
          </a:p>
          <a:p>
            <a:r>
              <a:rPr lang="en-US" sz="1300" dirty="0"/>
              <a:t>2.  The Portfolio Has a Dangerous Paradox</a:t>
            </a:r>
          </a:p>
          <a:p>
            <a:r>
              <a:rPr lang="en-US" sz="1300" dirty="0"/>
              <a:t>The company is overstocked and understocked at the same time across all 5 categories. While 1,791 SKUs hold excessive stock, 197 SKUs are critically understocked and 7 are at complete zero. This is not a cash flow problem; it is a procurement decision problem.</a:t>
            </a:r>
          </a:p>
          <a:p>
            <a:pPr marL="228600" indent="-228600">
              <a:buFont typeface="+mj-lt"/>
              <a:buAutoNum type="arabicPeriod"/>
            </a:pPr>
            <a:endParaRPr lang="en-US" sz="1300" dirty="0"/>
          </a:p>
          <a:p>
            <a:r>
              <a:rPr lang="en-US" sz="1300" dirty="0"/>
              <a:t>3. Procurement Has Completely Failed</a:t>
            </a:r>
          </a:p>
          <a:p>
            <a:r>
              <a:rPr lang="en-US" sz="1300" dirty="0"/>
              <a:t>94.6% of all SKUs have a restock date that has already passed. This means 2,839 of 3,000 products are overdue for replenishment. This pattern is consistent across all 5 categories which confirms it is a process failure not an isolated incident.</a:t>
            </a:r>
          </a:p>
          <a:p>
            <a:pPr marL="228600" indent="-228600">
              <a:buFont typeface="+mj-lt"/>
              <a:buAutoNum type="arabicPeriod"/>
            </a:pPr>
            <a:endParaRPr lang="en-US" sz="1300" dirty="0"/>
          </a:p>
          <a:p>
            <a:r>
              <a:rPr lang="en-US" sz="1300" dirty="0"/>
              <a:t>4. 7 Products Are Generating Zero Revenue</a:t>
            </a:r>
          </a:p>
          <a:p>
            <a:r>
              <a:rPr lang="en-US" sz="1300" dirty="0"/>
              <a:t>Seven SKUs are at complete zero stock, Roofing Sheet, Ceiling Board, Water Heater, Toilet Seat, Cement Bag and Switch Box. Five of these seven are concentrated in Warehouse B, pointing to a specific operational failure at that location.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2A5E"/>
          </a:solidFill>
          <a:ln/>
        </p:spPr>
      </p:sp>
      <p:sp>
        <p:nvSpPr>
          <p:cNvPr id="3" name="Text 1"/>
          <p:cNvSpPr/>
          <p:nvPr/>
        </p:nvSpPr>
        <p:spPr>
          <a:xfrm>
            <a:off x="365760" y="0"/>
            <a:ext cx="73152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KEY INSIGHTS</a:t>
            </a:r>
            <a:endParaRPr lang="en-US" sz="2200" dirty="0"/>
          </a:p>
        </p:txBody>
      </p:sp>
      <p:sp>
        <p:nvSpPr>
          <p:cNvPr id="4" name="Text 2"/>
          <p:cNvSpPr/>
          <p:nvPr/>
        </p:nvSpPr>
        <p:spPr>
          <a:xfrm>
            <a:off x="365760" y="713232"/>
            <a:ext cx="822960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8 critical findings from the data analysis</a:t>
            </a:r>
            <a:endParaRPr lang="en-US" sz="1100" dirty="0"/>
          </a:p>
        </p:txBody>
      </p:sp>
      <p:sp>
        <p:nvSpPr>
          <p:cNvPr id="5" name="Shape 3"/>
          <p:cNvSpPr/>
          <p:nvPr/>
        </p:nvSpPr>
        <p:spPr>
          <a:xfrm>
            <a:off x="0" y="4892040"/>
            <a:ext cx="9144000" cy="251460"/>
          </a:xfrm>
          <a:prstGeom prst="rect">
            <a:avLst/>
          </a:prstGeom>
          <a:solidFill>
            <a:srgbClr val="1A3070"/>
          </a:solidFill>
          <a:ln/>
        </p:spPr>
      </p:sp>
      <p:sp>
        <p:nvSpPr>
          <p:cNvPr id="6" name="Text 4"/>
          <p:cNvSpPr/>
          <p:nvPr/>
        </p:nvSpPr>
        <p:spPr>
          <a:xfrm>
            <a:off x="274320" y="4892040"/>
            <a:ext cx="8595360" cy="251460"/>
          </a:xfrm>
          <a:prstGeom prst="rect">
            <a:avLst/>
          </a:prstGeom>
          <a:noFill/>
          <a:ln/>
        </p:spPr>
        <p:txBody>
          <a:bodyPr wrap="square" lIns="0" tIns="0" rIns="0" bIns="0" rtlCol="0" anchor="ctr"/>
          <a:lstStyle/>
          <a:p>
            <a:pPr marL="0" indent="0" algn="ctr">
              <a:buNone/>
            </a:pPr>
            <a:r>
              <a:rPr lang="en-US" sz="800" dirty="0">
                <a:solidFill>
                  <a:srgbClr val="C8D9FF"/>
                </a:solidFill>
                <a:latin typeface="Calibri" pitchFamily="34" charset="0"/>
                <a:ea typeface="Calibri" pitchFamily="34" charset="-122"/>
                <a:cs typeface="Calibri" pitchFamily="34" charset="-120"/>
              </a:rPr>
              <a:t>Easy Technologies Academy  |  #EasyTechTalent  |  Inventory Risk Analysis </a:t>
            </a:r>
            <a:endParaRPr lang="en-US" sz="800" dirty="0"/>
          </a:p>
        </p:txBody>
      </p:sp>
      <p:sp>
        <p:nvSpPr>
          <p:cNvPr id="42" name="Shape 8">
            <a:extLst>
              <a:ext uri="{FF2B5EF4-FFF2-40B4-BE49-F238E27FC236}">
                <a16:creationId xmlns:a16="http://schemas.microsoft.com/office/drawing/2014/main" id="{6F825680-ECCA-4C57-80EA-3328A1174BEC}"/>
              </a:ext>
            </a:extLst>
          </p:cNvPr>
          <p:cNvSpPr/>
          <p:nvPr/>
        </p:nvSpPr>
        <p:spPr>
          <a:xfrm>
            <a:off x="193040" y="987552"/>
            <a:ext cx="8676640" cy="3726688"/>
          </a:xfrm>
          <a:prstGeom prst="rect">
            <a:avLst/>
          </a:prstGeom>
          <a:solidFill>
            <a:srgbClr val="F0F2F8"/>
          </a:solidFill>
          <a:ln/>
          <a:effectLst>
            <a:outerShdw blurRad="101600" dist="38100" dir="8100000" algn="bl" rotWithShape="0">
              <a:srgbClr val="000000">
                <a:alpha val="12000"/>
              </a:srgbClr>
            </a:outerShdw>
          </a:effectLst>
        </p:spPr>
        <p:txBody>
          <a:bodyPr/>
          <a:lstStyle/>
          <a:p>
            <a:r>
              <a:rPr lang="en-US" sz="1300" dirty="0"/>
              <a:t>5. $51.1M May Already Be Dead Stock</a:t>
            </a:r>
          </a:p>
          <a:p>
            <a:r>
              <a:rPr lang="en-US" sz="1300" dirty="0"/>
              <a:t>805 SKUs have not been restocked in over 270 days. This stock is valued at $51.1M. Items that have not moved in 9+ months carry a high risk of obsolescence, damage or expiry, none of which has been accounted for in the current portfolio valuation.</a:t>
            </a:r>
          </a:p>
          <a:p>
            <a:endParaRPr lang="en-US" sz="1300" dirty="0"/>
          </a:p>
          <a:p>
            <a:r>
              <a:rPr lang="en-US" sz="1300" dirty="0"/>
              <a:t>6. Warehouse B is a Concentrated Risk Point</a:t>
            </a:r>
          </a:p>
          <a:p>
            <a:r>
              <a:rPr lang="en-US" sz="1300" dirty="0"/>
              <a:t>Although all three warehouses hold approximately 33% of total portfolio value each, Warehouse B holds 5 of the 7 zero-stock items. The value distribution is balanced but the operational performance is not something specific is failing at Warehouse B.</a:t>
            </a:r>
          </a:p>
          <a:p>
            <a:endParaRPr lang="en-US" sz="1300" dirty="0"/>
          </a:p>
          <a:p>
            <a:r>
              <a:rPr lang="en-US" sz="1300" dirty="0"/>
              <a:t>7. Supplier Concentration Appears Balanced but Hides Risk</a:t>
            </a:r>
          </a:p>
          <a:p>
            <a:r>
              <a:rPr lang="en-US" sz="1300" dirty="0"/>
              <a:t>All five suppliers hold between 19% and 22% of portfolio value appearing well balanced. However, the real risk is product line exclusivity. If any single supplier is the sole source for a critical product line, a supply disruption would cause immediate stockouts regardless of how balanced the value percentages appear.</a:t>
            </a:r>
          </a:p>
          <a:p>
            <a:endParaRPr lang="en-US" sz="1300" dirty="0"/>
          </a:p>
          <a:p>
            <a:r>
              <a:rPr lang="en-US" sz="1300" dirty="0"/>
              <a:t>8. High Capital Concentration in Few Products</a:t>
            </a:r>
          </a:p>
          <a:p>
            <a:r>
              <a:rPr lang="en-US" sz="1300" dirty="0"/>
              <a:t>Top 10 products each hold $8M–$11M in stock value, showing heavy capital concentration in a small set of items.</a:t>
            </a:r>
          </a:p>
          <a:p>
            <a:r>
              <a:rPr lang="en-US" sz="1300" dirty="0"/>
              <a:t>Significant Excess Across All Top Products</a:t>
            </a:r>
          </a:p>
          <a:p>
            <a:r>
              <a:rPr lang="en-US" sz="1300" dirty="0"/>
              <a:t>Each product has very high excess value ($7M–$9M), meaning most of this stock is not immediately needed.</a:t>
            </a:r>
          </a:p>
        </p:txBody>
      </p:sp>
    </p:spTree>
    <p:extLst>
      <p:ext uri="{BB962C8B-B14F-4D97-AF65-F5344CB8AC3E}">
        <p14:creationId xmlns:p14="http://schemas.microsoft.com/office/powerpoint/2010/main" val="34013259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2A5E"/>
          </a:solidFill>
          <a:ln/>
        </p:spPr>
      </p:sp>
      <p:sp>
        <p:nvSpPr>
          <p:cNvPr id="3" name="Text 1"/>
          <p:cNvSpPr/>
          <p:nvPr/>
        </p:nvSpPr>
        <p:spPr>
          <a:xfrm>
            <a:off x="365760" y="0"/>
            <a:ext cx="73152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RECOMMENDATIONS</a:t>
            </a:r>
            <a:endParaRPr lang="en-US" sz="2200" dirty="0"/>
          </a:p>
        </p:txBody>
      </p:sp>
      <p:sp>
        <p:nvSpPr>
          <p:cNvPr id="5" name="Shape 3"/>
          <p:cNvSpPr/>
          <p:nvPr/>
        </p:nvSpPr>
        <p:spPr>
          <a:xfrm>
            <a:off x="0" y="4892040"/>
            <a:ext cx="9144000" cy="251460"/>
          </a:xfrm>
          <a:prstGeom prst="rect">
            <a:avLst/>
          </a:prstGeom>
          <a:solidFill>
            <a:srgbClr val="1A3070"/>
          </a:solidFill>
          <a:ln/>
        </p:spPr>
      </p:sp>
      <p:sp>
        <p:nvSpPr>
          <p:cNvPr id="6" name="Text 4"/>
          <p:cNvSpPr/>
          <p:nvPr/>
        </p:nvSpPr>
        <p:spPr>
          <a:xfrm>
            <a:off x="274320" y="4892040"/>
            <a:ext cx="8595360" cy="251460"/>
          </a:xfrm>
          <a:prstGeom prst="rect">
            <a:avLst/>
          </a:prstGeom>
          <a:noFill/>
          <a:ln/>
        </p:spPr>
        <p:txBody>
          <a:bodyPr wrap="square" lIns="0" tIns="0" rIns="0" bIns="0" rtlCol="0" anchor="ctr"/>
          <a:lstStyle/>
          <a:p>
            <a:pPr marL="0" indent="0" algn="ctr">
              <a:buNone/>
            </a:pPr>
            <a:r>
              <a:rPr lang="en-US" sz="800" dirty="0">
                <a:solidFill>
                  <a:srgbClr val="C8D9FF"/>
                </a:solidFill>
                <a:latin typeface="Calibri" pitchFamily="34" charset="0"/>
                <a:ea typeface="Calibri" pitchFamily="34" charset="-122"/>
                <a:cs typeface="Calibri" pitchFamily="34" charset="-120"/>
              </a:rPr>
              <a:t>Easy Technologies Academy  |  #EasyTechTalent  |  Inventory Risk Analysis</a:t>
            </a:r>
            <a:endParaRPr lang="en-US" sz="800" dirty="0"/>
          </a:p>
        </p:txBody>
      </p:sp>
      <p:sp>
        <p:nvSpPr>
          <p:cNvPr id="53" name="Shape 8">
            <a:extLst>
              <a:ext uri="{FF2B5EF4-FFF2-40B4-BE49-F238E27FC236}">
                <a16:creationId xmlns:a16="http://schemas.microsoft.com/office/drawing/2014/main" id="{D6E5885E-08FE-4DF7-8D6E-84E21A13E287}"/>
              </a:ext>
            </a:extLst>
          </p:cNvPr>
          <p:cNvSpPr/>
          <p:nvPr/>
        </p:nvSpPr>
        <p:spPr>
          <a:xfrm>
            <a:off x="193040" y="824992"/>
            <a:ext cx="8747760" cy="3919728"/>
          </a:xfrm>
          <a:prstGeom prst="rect">
            <a:avLst/>
          </a:prstGeom>
          <a:solidFill>
            <a:srgbClr val="F0F2F8"/>
          </a:solidFill>
          <a:ln/>
          <a:effectLst>
            <a:outerShdw blurRad="101600" dist="38100" dir="8100000" algn="bl" rotWithShape="0">
              <a:srgbClr val="000000">
                <a:alpha val="12000"/>
              </a:srgbClr>
            </a:outerShdw>
          </a:effectLst>
        </p:spPr>
        <p:txBody>
          <a:bodyPr/>
          <a:lstStyle/>
          <a:p>
            <a:r>
              <a:rPr lang="en-US" sz="1200" dirty="0"/>
              <a:t>1. Reduce Overstock Levels Through Inventory Optimization</a:t>
            </a:r>
          </a:p>
          <a:p>
            <a:r>
              <a:rPr lang="en-US" sz="1200" dirty="0"/>
              <a:t>Management should review procurement strategies and reduce purchasing volumes for slow-moving products, especially within the Hardware and Interior categories.</a:t>
            </a:r>
          </a:p>
          <a:p>
            <a:r>
              <a:rPr lang="en-US" sz="1200" dirty="0"/>
              <a:t>Implementing demand-based reorder policies will help prevent excess inventory accumulation.</a:t>
            </a:r>
          </a:p>
          <a:p>
            <a:endParaRPr lang="en-US" sz="1200" dirty="0"/>
          </a:p>
          <a:p>
            <a:r>
              <a:rPr lang="en-US" sz="1200" dirty="0"/>
              <a:t>2. Improve Inventory Forecasting and Reorder Planning</a:t>
            </a:r>
          </a:p>
          <a:p>
            <a:r>
              <a:rPr lang="en-US" sz="1200" dirty="0"/>
              <a:t>Current stock levels suggest forecasting inaccuracies.</a:t>
            </a:r>
          </a:p>
          <a:p>
            <a:r>
              <a:rPr lang="en-US" sz="1200" dirty="0"/>
              <a:t>Adopting data-driven demand forecasting and automated reorder thresholds can help balance inventory levels and reduce both overstock and stockouts.</a:t>
            </a:r>
          </a:p>
          <a:p>
            <a:endParaRPr lang="en-US" sz="1200" dirty="0"/>
          </a:p>
          <a:p>
            <a:r>
              <a:rPr lang="en-US" sz="1200" dirty="0"/>
              <a:t>3. Diversify Supplier Portfolio</a:t>
            </a:r>
          </a:p>
          <a:p>
            <a:r>
              <a:rPr lang="en-US" sz="1200" dirty="0"/>
              <a:t>Although supplier distribution is relatively balanced, the company should avoid heavy reliance on a few suppliers such as Mega Build Ltd.</a:t>
            </a:r>
          </a:p>
          <a:p>
            <a:r>
              <a:rPr lang="en-US" sz="1200" dirty="0"/>
              <a:t>Establishing alternative suppliers will help mitigate supply chain disruption risk.</a:t>
            </a:r>
          </a:p>
          <a:p>
            <a:endParaRPr lang="en-US" sz="1200" dirty="0"/>
          </a:p>
          <a:p>
            <a:r>
              <a:rPr lang="en-US" sz="1200" dirty="0"/>
              <a:t>4. Monitor High-Risk Inventory Categories</a:t>
            </a:r>
          </a:p>
          <a:p>
            <a:r>
              <a:rPr lang="en-US" sz="1200" dirty="0"/>
              <a:t>Categories with the highest overstock levels should be prioritized for inventory review.</a:t>
            </a:r>
          </a:p>
          <a:p>
            <a:r>
              <a:rPr lang="en-US" sz="1200" dirty="0"/>
              <a:t>Management should consider:</a:t>
            </a:r>
          </a:p>
          <a:p>
            <a:r>
              <a:rPr lang="en-US" sz="1200" dirty="0"/>
              <a:t>Discount promotions</a:t>
            </a:r>
          </a:p>
          <a:p>
            <a:r>
              <a:rPr lang="en-US" sz="1200" dirty="0"/>
              <a:t>Bundled product offers</a:t>
            </a:r>
          </a:p>
          <a:p>
            <a:r>
              <a:rPr lang="en-US" sz="1200" dirty="0"/>
              <a:t>Slower reorder cycles to reduce excess stock in these categories.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2A5E"/>
          </a:solidFill>
          <a:ln/>
        </p:spPr>
      </p:sp>
      <p:sp>
        <p:nvSpPr>
          <p:cNvPr id="3" name="Text 1"/>
          <p:cNvSpPr/>
          <p:nvPr/>
        </p:nvSpPr>
        <p:spPr>
          <a:xfrm>
            <a:off x="365760" y="0"/>
            <a:ext cx="73152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RECOMMENDATIONS</a:t>
            </a:r>
            <a:endParaRPr lang="en-US" sz="2200" dirty="0"/>
          </a:p>
        </p:txBody>
      </p:sp>
      <p:sp>
        <p:nvSpPr>
          <p:cNvPr id="5" name="Shape 3"/>
          <p:cNvSpPr/>
          <p:nvPr/>
        </p:nvSpPr>
        <p:spPr>
          <a:xfrm>
            <a:off x="0" y="4892040"/>
            <a:ext cx="9144000" cy="251460"/>
          </a:xfrm>
          <a:prstGeom prst="rect">
            <a:avLst/>
          </a:prstGeom>
          <a:solidFill>
            <a:srgbClr val="1A3070"/>
          </a:solidFill>
          <a:ln/>
        </p:spPr>
      </p:sp>
      <p:sp>
        <p:nvSpPr>
          <p:cNvPr id="6" name="Text 4"/>
          <p:cNvSpPr/>
          <p:nvPr/>
        </p:nvSpPr>
        <p:spPr>
          <a:xfrm>
            <a:off x="274320" y="4892040"/>
            <a:ext cx="8595360" cy="251460"/>
          </a:xfrm>
          <a:prstGeom prst="rect">
            <a:avLst/>
          </a:prstGeom>
          <a:noFill/>
          <a:ln/>
        </p:spPr>
        <p:txBody>
          <a:bodyPr wrap="square" lIns="0" tIns="0" rIns="0" bIns="0" rtlCol="0" anchor="ctr"/>
          <a:lstStyle/>
          <a:p>
            <a:pPr marL="0" indent="0" algn="ctr">
              <a:buNone/>
            </a:pPr>
            <a:r>
              <a:rPr lang="en-US" sz="800" dirty="0">
                <a:solidFill>
                  <a:srgbClr val="C8D9FF"/>
                </a:solidFill>
                <a:latin typeface="Calibri" pitchFamily="34" charset="0"/>
                <a:ea typeface="Calibri" pitchFamily="34" charset="-122"/>
                <a:cs typeface="Calibri" pitchFamily="34" charset="-120"/>
              </a:rPr>
              <a:t>Easy Technologies Academy  |  #EasyTechTalent  |  Inventory Risk Analysis</a:t>
            </a:r>
            <a:endParaRPr lang="en-US" sz="800" dirty="0"/>
          </a:p>
        </p:txBody>
      </p:sp>
      <p:sp>
        <p:nvSpPr>
          <p:cNvPr id="53" name="Shape 8">
            <a:extLst>
              <a:ext uri="{FF2B5EF4-FFF2-40B4-BE49-F238E27FC236}">
                <a16:creationId xmlns:a16="http://schemas.microsoft.com/office/drawing/2014/main" id="{D6E5885E-08FE-4DF7-8D6E-84E21A13E287}"/>
              </a:ext>
            </a:extLst>
          </p:cNvPr>
          <p:cNvSpPr/>
          <p:nvPr/>
        </p:nvSpPr>
        <p:spPr>
          <a:xfrm>
            <a:off x="193040" y="987552"/>
            <a:ext cx="8676640" cy="3726688"/>
          </a:xfrm>
          <a:prstGeom prst="rect">
            <a:avLst/>
          </a:prstGeom>
          <a:solidFill>
            <a:srgbClr val="F0F2F8"/>
          </a:solidFill>
          <a:ln/>
          <a:effectLst>
            <a:outerShdw blurRad="101600" dist="38100" dir="8100000" algn="bl" rotWithShape="0">
              <a:srgbClr val="000000">
                <a:alpha val="12000"/>
              </a:srgbClr>
            </a:outerShdw>
          </a:effectLst>
        </p:spPr>
        <p:txBody>
          <a:bodyPr/>
          <a:lstStyle/>
          <a:p>
            <a:r>
              <a:rPr lang="en-US" sz="1200" dirty="0"/>
              <a:t>5. Establish Continuous Inventory Monitoring</a:t>
            </a:r>
          </a:p>
          <a:p>
            <a:r>
              <a:rPr lang="en-US" sz="1200" dirty="0"/>
              <a:t>Management should implement a dashboard-driven monitoring system to track:</a:t>
            </a:r>
          </a:p>
          <a:p>
            <a:r>
              <a:rPr lang="en-US" sz="1200" dirty="0"/>
              <a:t>Overstock levels</a:t>
            </a:r>
          </a:p>
          <a:p>
            <a:r>
              <a:rPr lang="en-US" sz="1200" dirty="0"/>
              <a:t>Critical stock</a:t>
            </a:r>
          </a:p>
          <a:p>
            <a:r>
              <a:rPr lang="en-US" sz="1200" dirty="0"/>
              <a:t>Restock delays</a:t>
            </a:r>
          </a:p>
          <a:p>
            <a:r>
              <a:rPr lang="en-US" sz="1200" dirty="0"/>
              <a:t>Supplier exposure</a:t>
            </a:r>
          </a:p>
          <a:p>
            <a:r>
              <a:rPr lang="en-US" sz="1200" dirty="0"/>
              <a:t>This will allow early detection of inventory risk and support proactive operational decisions.</a:t>
            </a:r>
          </a:p>
          <a:p>
            <a:endParaRPr lang="en-US" sz="1200" dirty="0"/>
          </a:p>
          <a:p>
            <a:r>
              <a:rPr lang="en-US" sz="1200" dirty="0"/>
              <a:t>6. Pause or reduce restocking for these products</a:t>
            </a:r>
          </a:p>
          <a:p>
            <a:r>
              <a:rPr lang="en-US" sz="1200" dirty="0"/>
              <a:t>Clear excess stock through discounts or bulk sales</a:t>
            </a:r>
          </a:p>
          <a:p>
            <a:r>
              <a:rPr lang="en-US" sz="1200" dirty="0"/>
              <a:t>Adjust reorder levels based on demand</a:t>
            </a:r>
          </a:p>
          <a:p>
            <a:r>
              <a:rPr lang="en-US" sz="1200" dirty="0"/>
              <a:t>Negotiate smaller supplier orders</a:t>
            </a:r>
          </a:p>
        </p:txBody>
      </p:sp>
    </p:spTree>
    <p:extLst>
      <p:ext uri="{BB962C8B-B14F-4D97-AF65-F5344CB8AC3E}">
        <p14:creationId xmlns:p14="http://schemas.microsoft.com/office/powerpoint/2010/main" val="3396104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1B2A5E"/>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rect">
            <a:avLst/>
          </a:prstGeom>
          <a:solidFill>
            <a:srgbClr val="1A3070"/>
          </a:solidFill>
          <a:ln/>
        </p:spPr>
      </p:sp>
      <p:sp>
        <p:nvSpPr>
          <p:cNvPr id="3" name="Text 1"/>
          <p:cNvSpPr/>
          <p:nvPr/>
        </p:nvSpPr>
        <p:spPr>
          <a:xfrm>
            <a:off x="274320" y="4892040"/>
            <a:ext cx="8595360" cy="251460"/>
          </a:xfrm>
          <a:prstGeom prst="rect">
            <a:avLst/>
          </a:prstGeom>
          <a:noFill/>
          <a:ln/>
        </p:spPr>
        <p:txBody>
          <a:bodyPr wrap="square" lIns="0" tIns="0" rIns="0" bIns="0" rtlCol="0" anchor="ctr"/>
          <a:lstStyle/>
          <a:p>
            <a:pPr marL="0" indent="0" algn="ctr">
              <a:buNone/>
            </a:pPr>
            <a:r>
              <a:rPr lang="en-US" sz="800" dirty="0">
                <a:solidFill>
                  <a:srgbClr val="C8D9FF"/>
                </a:solidFill>
                <a:latin typeface="Calibri" pitchFamily="34" charset="0"/>
                <a:ea typeface="Calibri" pitchFamily="34" charset="-122"/>
                <a:cs typeface="Calibri" pitchFamily="34" charset="-120"/>
              </a:rPr>
              <a:t>Easy Technologies Academy  |  #EasyTechTalent  |  Inventory Risk Analysis</a:t>
            </a:r>
            <a:endParaRPr lang="en-US" sz="800" dirty="0"/>
          </a:p>
        </p:txBody>
      </p:sp>
      <p:sp>
        <p:nvSpPr>
          <p:cNvPr id="4" name="Text 2"/>
          <p:cNvSpPr/>
          <p:nvPr/>
        </p:nvSpPr>
        <p:spPr>
          <a:xfrm>
            <a:off x="457200" y="274320"/>
            <a:ext cx="8229600" cy="502920"/>
          </a:xfrm>
          <a:prstGeom prst="rect">
            <a:avLst/>
          </a:prstGeom>
          <a:noFill/>
          <a:ln/>
        </p:spPr>
        <p:txBody>
          <a:bodyPr wrap="square" lIns="0" tIns="0" rIns="0" bIns="0" rtlCol="0" anchor="ctr"/>
          <a:lstStyle/>
          <a:p>
            <a:pPr marL="0" indent="0">
              <a:buNone/>
            </a:pPr>
            <a:r>
              <a:rPr lang="en-US" sz="3600" b="1" kern="0" spc="400" dirty="0">
                <a:solidFill>
                  <a:srgbClr val="FFFFFF"/>
                </a:solidFill>
                <a:latin typeface="Calibri" pitchFamily="34" charset="0"/>
                <a:ea typeface="Calibri" pitchFamily="34" charset="-122"/>
                <a:cs typeface="Calibri" pitchFamily="34" charset="-120"/>
              </a:rPr>
              <a:t>CONCLUSION</a:t>
            </a:r>
            <a:endParaRPr lang="en-US" sz="3600" dirty="0"/>
          </a:p>
        </p:txBody>
      </p:sp>
      <p:sp>
        <p:nvSpPr>
          <p:cNvPr id="6" name="Shape 4"/>
          <p:cNvSpPr/>
          <p:nvPr/>
        </p:nvSpPr>
        <p:spPr>
          <a:xfrm>
            <a:off x="457200" y="783336"/>
            <a:ext cx="8056880" cy="3910584"/>
          </a:xfrm>
          <a:prstGeom prst="rect">
            <a:avLst/>
          </a:prstGeom>
          <a:solidFill>
            <a:srgbClr val="1A3070"/>
          </a:solidFill>
          <a:ln/>
          <a:effectLst>
            <a:outerShdw blurRad="101600" dist="38100" dir="8100000" algn="bl" rotWithShape="0">
              <a:srgbClr val="000000">
                <a:alpha val="12000"/>
              </a:srgbClr>
            </a:outerShdw>
          </a:effectLst>
        </p:spPr>
        <p:txBody>
          <a:bodyPr/>
          <a:lstStyle/>
          <a:p>
            <a:endParaRPr lang="en-US" dirty="0"/>
          </a:p>
        </p:txBody>
      </p:sp>
      <p:sp>
        <p:nvSpPr>
          <p:cNvPr id="42" name="TextBox 41">
            <a:extLst>
              <a:ext uri="{FF2B5EF4-FFF2-40B4-BE49-F238E27FC236}">
                <a16:creationId xmlns:a16="http://schemas.microsoft.com/office/drawing/2014/main" id="{34835125-0637-4471-9E4F-F1A4C0498920}"/>
              </a:ext>
            </a:extLst>
          </p:cNvPr>
          <p:cNvSpPr txBox="1"/>
          <p:nvPr/>
        </p:nvSpPr>
        <p:spPr>
          <a:xfrm>
            <a:off x="629920" y="975360"/>
            <a:ext cx="7731760" cy="2031325"/>
          </a:xfrm>
          <a:prstGeom prst="rect">
            <a:avLst/>
          </a:prstGeom>
          <a:noFill/>
        </p:spPr>
        <p:txBody>
          <a:bodyPr wrap="square">
            <a:spAutoFit/>
          </a:bodyPr>
          <a:lstStyle/>
          <a:p>
            <a:r>
              <a:rPr lang="en-US" dirty="0">
                <a:solidFill>
                  <a:schemeClr val="bg1"/>
                </a:solidFill>
              </a:rPr>
              <a:t>The analysis indicates that the company’s primary inventory risk is capital inefficiency due to overstock, rather than warehouse imbalance or supplier concentration.</a:t>
            </a:r>
          </a:p>
          <a:p>
            <a:endParaRPr lang="en-US" dirty="0">
              <a:solidFill>
                <a:schemeClr val="bg1"/>
              </a:solidFill>
            </a:endParaRPr>
          </a:p>
          <a:p>
            <a:r>
              <a:rPr lang="en-US" dirty="0">
                <a:solidFill>
                  <a:schemeClr val="bg1"/>
                </a:solidFill>
              </a:rPr>
              <a:t>By optimizing procurement decisions, improving forecasting accuracy, and actively monitoring inventory health, the company can significantly reduce excess stock while maintaining product availability.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996</TotalTime>
  <Words>1619</Words>
  <Application>Microsoft Office PowerPoint</Application>
  <PresentationFormat>On-screen Show (16:9)</PresentationFormat>
  <Paragraphs>155</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Inventory Risk Analysis Report</dc:title>
  <dc:subject>PptxGenJS Presentation</dc:subject>
  <dc:creator>Becky</dc:creator>
  <cp:lastModifiedBy>Bukola Salau</cp:lastModifiedBy>
  <cp:revision>18</cp:revision>
  <dcterms:created xsi:type="dcterms:W3CDTF">2026-03-14T15:24:41Z</dcterms:created>
  <dcterms:modified xsi:type="dcterms:W3CDTF">2026-03-18T08:01:27Z</dcterms:modified>
</cp:coreProperties>
</file>